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4" r:id="rId1"/>
  </p:sldMasterIdLst>
  <p:notesMasterIdLst>
    <p:notesMasterId r:id="rId12"/>
  </p:notesMasterIdLst>
  <p:sldIdLst>
    <p:sldId id="258" r:id="rId2"/>
    <p:sldId id="287" r:id="rId3"/>
    <p:sldId id="273" r:id="rId4"/>
    <p:sldId id="268" r:id="rId5"/>
    <p:sldId id="260" r:id="rId6"/>
    <p:sldId id="262" r:id="rId7"/>
    <p:sldId id="335" r:id="rId8"/>
    <p:sldId id="266" r:id="rId9"/>
    <p:sldId id="288" r:id="rId10"/>
    <p:sldId id="289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666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4" autoAdjust="0"/>
    <p:restoredTop sz="94660"/>
  </p:normalViewPr>
  <p:slideViewPr>
    <p:cSldViewPr snapToGrid="0">
      <p:cViewPr varScale="1">
        <p:scale>
          <a:sx n="91" d="100"/>
          <a:sy n="91" d="100"/>
        </p:scale>
        <p:origin x="370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D26BC7D-E455-4E6C-A652-030D31670EBB}" type="datetimeFigureOut">
              <a:rPr lang="en-IN" smtClean="0"/>
              <a:t>31-07-2026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55A0C4-D6AD-4DA3-BE53-E85BB66658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07763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7F88E31-BD36-45AB-A888-982011ADF1B8}" type="slidenum">
              <a:rPr kumimoji="0" lang="en-ID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ID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6415246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55A0C4-D6AD-4DA3-BE53-E85BB666582F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187250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55A0C4-D6AD-4DA3-BE53-E85BB666582F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656003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FD020B33-7F4B-7CDD-169D-08A5A5121769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645494" y="208546"/>
            <a:ext cx="5349656" cy="6464300"/>
          </a:xfrm>
          <a:custGeom>
            <a:avLst/>
            <a:gdLst>
              <a:gd name="connsiteX0" fmla="*/ 228002 w 5349656"/>
              <a:gd name="connsiteY0" fmla="*/ 0 h 6440908"/>
              <a:gd name="connsiteX1" fmla="*/ 5121654 w 5349656"/>
              <a:gd name="connsiteY1" fmla="*/ 0 h 6440908"/>
              <a:gd name="connsiteX2" fmla="*/ 5349656 w 5349656"/>
              <a:gd name="connsiteY2" fmla="*/ 228002 h 6440908"/>
              <a:gd name="connsiteX3" fmla="*/ 5349656 w 5349656"/>
              <a:gd name="connsiteY3" fmla="*/ 6212906 h 6440908"/>
              <a:gd name="connsiteX4" fmla="*/ 5121654 w 5349656"/>
              <a:gd name="connsiteY4" fmla="*/ 6440908 h 6440908"/>
              <a:gd name="connsiteX5" fmla="*/ 228002 w 5349656"/>
              <a:gd name="connsiteY5" fmla="*/ 6440908 h 6440908"/>
              <a:gd name="connsiteX6" fmla="*/ 0 w 5349656"/>
              <a:gd name="connsiteY6" fmla="*/ 6212906 h 6440908"/>
              <a:gd name="connsiteX7" fmla="*/ 0 w 5349656"/>
              <a:gd name="connsiteY7" fmla="*/ 228002 h 6440908"/>
              <a:gd name="connsiteX8" fmla="*/ 228002 w 5349656"/>
              <a:gd name="connsiteY8" fmla="*/ 0 h 6440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349656" h="6440908">
                <a:moveTo>
                  <a:pt x="228002" y="0"/>
                </a:moveTo>
                <a:lnTo>
                  <a:pt x="5121654" y="0"/>
                </a:lnTo>
                <a:cubicBezTo>
                  <a:pt x="5247576" y="0"/>
                  <a:pt x="5349656" y="102080"/>
                  <a:pt x="5349656" y="228002"/>
                </a:cubicBezTo>
                <a:lnTo>
                  <a:pt x="5349656" y="6212906"/>
                </a:lnTo>
                <a:cubicBezTo>
                  <a:pt x="5349656" y="6338828"/>
                  <a:pt x="5247576" y="6440908"/>
                  <a:pt x="5121654" y="6440908"/>
                </a:cubicBezTo>
                <a:lnTo>
                  <a:pt x="228002" y="6440908"/>
                </a:lnTo>
                <a:cubicBezTo>
                  <a:pt x="102080" y="6440908"/>
                  <a:pt x="0" y="6338828"/>
                  <a:pt x="0" y="6212906"/>
                </a:cubicBezTo>
                <a:lnTo>
                  <a:pt x="0" y="228002"/>
                </a:lnTo>
                <a:cubicBezTo>
                  <a:pt x="0" y="102080"/>
                  <a:pt x="102080" y="0"/>
                  <a:pt x="228002" y="0"/>
                </a:cubicBezTo>
                <a:close/>
              </a:path>
            </a:pathLst>
          </a:custGeom>
          <a:pattFill prst="pct5">
            <a:fgClr>
              <a:srgbClr val="64DCEB"/>
            </a:fgClr>
            <a:bgClr>
              <a:srgbClr val="EBF1F9"/>
            </a:bgClr>
          </a:pattFill>
        </p:spPr>
        <p:txBody>
          <a:bodyPr wrap="square">
            <a:noAutofit/>
          </a:bodyPr>
          <a:lstStyle>
            <a:lvl1pPr marL="0" indent="0">
              <a:buNone/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ID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CC78CB16-1787-76BC-47B8-52D04289067C}"/>
              </a:ext>
            </a:extLst>
          </p:cNvPr>
          <p:cNvSpPr/>
          <p:nvPr userDrawn="1"/>
        </p:nvSpPr>
        <p:spPr>
          <a:xfrm rot="16200000">
            <a:off x="2863850" y="-2470150"/>
            <a:ext cx="6464300" cy="11798300"/>
          </a:xfrm>
          <a:custGeom>
            <a:avLst/>
            <a:gdLst>
              <a:gd name="csX0" fmla="*/ 6464300 w 6464300"/>
              <a:gd name="csY0" fmla="*/ 247001 h 11798300"/>
              <a:gd name="csX1" fmla="*/ 6464300 w 6464300"/>
              <a:gd name="csY1" fmla="*/ 11551299 h 11798300"/>
              <a:gd name="csX2" fmla="*/ 6217299 w 6464300"/>
              <a:gd name="csY2" fmla="*/ 11798300 h 11798300"/>
              <a:gd name="csX3" fmla="*/ 247001 w 6464300"/>
              <a:gd name="csY3" fmla="*/ 11798300 h 11798300"/>
              <a:gd name="csX4" fmla="*/ 0 w 6464300"/>
              <a:gd name="csY4" fmla="*/ 11551299 h 11798300"/>
              <a:gd name="csX5" fmla="*/ 0 w 6464300"/>
              <a:gd name="csY5" fmla="*/ 247001 h 11798300"/>
              <a:gd name="csX6" fmla="*/ 247001 w 6464300"/>
              <a:gd name="csY6" fmla="*/ 0 h 11798300"/>
              <a:gd name="csX7" fmla="*/ 6217299 w 6464300"/>
              <a:gd name="csY7" fmla="*/ 0 h 11798300"/>
              <a:gd name="csX8" fmla="*/ 6464300 w 6464300"/>
              <a:gd name="csY8" fmla="*/ 247001 h 117983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6464300" h="11798300">
                <a:moveTo>
                  <a:pt x="6464300" y="247001"/>
                </a:moveTo>
                <a:lnTo>
                  <a:pt x="6464300" y="11551299"/>
                </a:lnTo>
                <a:cubicBezTo>
                  <a:pt x="6464300" y="11687714"/>
                  <a:pt x="6353714" y="11798300"/>
                  <a:pt x="6217299" y="11798300"/>
                </a:cubicBezTo>
                <a:lnTo>
                  <a:pt x="247001" y="11798300"/>
                </a:lnTo>
                <a:cubicBezTo>
                  <a:pt x="110586" y="11798300"/>
                  <a:pt x="0" y="11687714"/>
                  <a:pt x="0" y="11551299"/>
                </a:cubicBezTo>
                <a:lnTo>
                  <a:pt x="0" y="247001"/>
                </a:lnTo>
                <a:cubicBezTo>
                  <a:pt x="0" y="110586"/>
                  <a:pt x="110586" y="0"/>
                  <a:pt x="247001" y="0"/>
                </a:cubicBezTo>
                <a:lnTo>
                  <a:pt x="6217299" y="0"/>
                </a:lnTo>
                <a:cubicBezTo>
                  <a:pt x="6353714" y="0"/>
                  <a:pt x="6464300" y="110586"/>
                  <a:pt x="6464300" y="247001"/>
                </a:cubicBezTo>
                <a:close/>
              </a:path>
            </a:pathLst>
          </a:custGeom>
          <a:gradFill flip="none" rotWithShape="1">
            <a:gsLst>
              <a:gs pos="42000">
                <a:schemeClr val="accent1">
                  <a:lumMod val="75000"/>
                  <a:alpha val="35000"/>
                </a:schemeClr>
              </a:gs>
              <a:gs pos="0">
                <a:schemeClr val="accent2"/>
              </a:gs>
              <a:gs pos="89000">
                <a:schemeClr val="accent1">
                  <a:lumMod val="75000"/>
                  <a:alpha val="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anrope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271906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8666514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73DDB18-A489-548D-8CCE-B52B8F7FB85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3169919"/>
            <a:ext cx="12192000" cy="3688081"/>
          </a:xfrm>
          <a:custGeom>
            <a:avLst/>
            <a:gdLst>
              <a:gd name="csX0" fmla="*/ 0 w 12192000"/>
              <a:gd name="csY0" fmla="*/ 0 h 3251199"/>
              <a:gd name="csX1" fmla="*/ 12192000 w 12192000"/>
              <a:gd name="csY1" fmla="*/ 0 h 3251199"/>
              <a:gd name="csX2" fmla="*/ 12192000 w 12192000"/>
              <a:gd name="csY2" fmla="*/ 3251199 h 3251199"/>
              <a:gd name="csX3" fmla="*/ 0 w 12192000"/>
              <a:gd name="csY3" fmla="*/ 3251199 h 325119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2192000" h="3251199">
                <a:moveTo>
                  <a:pt x="0" y="0"/>
                </a:moveTo>
                <a:lnTo>
                  <a:pt x="12192000" y="0"/>
                </a:lnTo>
                <a:lnTo>
                  <a:pt x="12192000" y="3251199"/>
                </a:lnTo>
                <a:lnTo>
                  <a:pt x="0" y="3251199"/>
                </a:lnTo>
                <a:close/>
              </a:path>
            </a:pathLst>
          </a:custGeom>
          <a:solidFill>
            <a:schemeClr val="bg1">
              <a:lumMod val="85000"/>
              <a:alpha val="66928"/>
            </a:schemeClr>
          </a:solidFill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99430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0A77B58A-C502-3FD9-2C84-02264E59DCE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24144" y="342631"/>
            <a:ext cx="11488970" cy="3071800"/>
          </a:xfrm>
          <a:custGeom>
            <a:avLst/>
            <a:gdLst>
              <a:gd name="csX0" fmla="*/ 0 w 5524500"/>
              <a:gd name="csY0" fmla="*/ 0 h 2767914"/>
              <a:gd name="csX1" fmla="*/ 5524500 w 5524500"/>
              <a:gd name="csY1" fmla="*/ 0 h 2767914"/>
              <a:gd name="csX2" fmla="*/ 5524500 w 5524500"/>
              <a:gd name="csY2" fmla="*/ 2767914 h 2767914"/>
              <a:gd name="csX3" fmla="*/ 0 w 5524500"/>
              <a:gd name="csY3" fmla="*/ 2767914 h 276791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5524500" h="2767914">
                <a:moveTo>
                  <a:pt x="0" y="0"/>
                </a:moveTo>
                <a:lnTo>
                  <a:pt x="5524500" y="0"/>
                </a:lnTo>
                <a:lnTo>
                  <a:pt x="5524500" y="2767914"/>
                </a:lnTo>
                <a:lnTo>
                  <a:pt x="0" y="2767914"/>
                </a:lnTo>
                <a:close/>
              </a:path>
            </a:pathLst>
          </a:custGeom>
          <a:solidFill>
            <a:schemeClr val="bg1">
              <a:lumMod val="85000"/>
              <a:alpha val="66928"/>
            </a:schemeClr>
          </a:solidFill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79004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95080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Section Header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6FA362C-B472-4249-6BDB-5973E245F15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09599" y="3145970"/>
            <a:ext cx="4637315" cy="3712033"/>
          </a:xfrm>
          <a:custGeom>
            <a:avLst/>
            <a:gdLst>
              <a:gd name="csX0" fmla="*/ 0 w 4637315"/>
              <a:gd name="csY0" fmla="*/ 0 h 3712033"/>
              <a:gd name="csX1" fmla="*/ 4637315 w 4637315"/>
              <a:gd name="csY1" fmla="*/ 0 h 3712033"/>
              <a:gd name="csX2" fmla="*/ 4637315 w 4637315"/>
              <a:gd name="csY2" fmla="*/ 3712033 h 3712033"/>
              <a:gd name="csX3" fmla="*/ 0 w 4637315"/>
              <a:gd name="csY3" fmla="*/ 3712033 h 371203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4637315" h="3712033">
                <a:moveTo>
                  <a:pt x="0" y="0"/>
                </a:moveTo>
                <a:lnTo>
                  <a:pt x="4637315" y="0"/>
                </a:lnTo>
                <a:lnTo>
                  <a:pt x="4637315" y="3712033"/>
                </a:lnTo>
                <a:lnTo>
                  <a:pt x="0" y="3712033"/>
                </a:lnTo>
                <a:close/>
              </a:path>
            </a:pathLst>
          </a:custGeom>
          <a:solidFill>
            <a:schemeClr val="bg1">
              <a:lumMod val="75000"/>
              <a:alpha val="49000"/>
            </a:schemeClr>
          </a:solidFill>
        </p:spPr>
        <p:txBody>
          <a:bodyPr wrap="square">
            <a:noAutofit/>
          </a:bodyPr>
          <a:lstStyle/>
          <a:p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3748273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Section Header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98C3FD84-C7DD-CAD1-C4FA-6F07E098A6E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736466" y="3669174"/>
            <a:ext cx="4845932" cy="2579225"/>
          </a:xfrm>
          <a:prstGeom prst="rect">
            <a:avLst/>
          </a:prstGeom>
          <a:solidFill>
            <a:schemeClr val="bg1">
              <a:lumMod val="75000"/>
              <a:alpha val="49000"/>
            </a:schemeClr>
          </a:solidFill>
        </p:spPr>
        <p:txBody>
          <a:bodyPr wrap="square">
            <a:noAutofit/>
          </a:bodyPr>
          <a:lstStyle/>
          <a:p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6952484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Section Header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8">
            <a:extLst>
              <a:ext uri="{FF2B5EF4-FFF2-40B4-BE49-F238E27FC236}">
                <a16:creationId xmlns:a16="http://schemas.microsoft.com/office/drawing/2014/main" id="{31B3E56A-B147-F400-F2C3-C3351D808780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7697165" y="794796"/>
            <a:ext cx="4494835" cy="1832658"/>
          </a:xfrm>
          <a:prstGeom prst="rect">
            <a:avLst/>
          </a:prstGeom>
          <a:solidFill>
            <a:schemeClr val="bg1">
              <a:lumMod val="85000"/>
              <a:alpha val="58000"/>
            </a:schemeClr>
          </a:solidFill>
        </p:spPr>
      </p:sp>
    </p:spTree>
    <p:extLst>
      <p:ext uri="{BB962C8B-B14F-4D97-AF65-F5344CB8AC3E}">
        <p14:creationId xmlns:p14="http://schemas.microsoft.com/office/powerpoint/2010/main" val="22117523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ction Header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4">
            <a:extLst>
              <a:ext uri="{FF2B5EF4-FFF2-40B4-BE49-F238E27FC236}">
                <a16:creationId xmlns:a16="http://schemas.microsoft.com/office/drawing/2014/main" id="{88029459-0E85-53DC-5E61-AE8A93AEC7D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067800" y="2936240"/>
            <a:ext cx="2514600" cy="3350260"/>
          </a:xfrm>
          <a:custGeom>
            <a:avLst/>
            <a:gdLst>
              <a:gd name="connsiteX0" fmla="*/ 0 w 2640487"/>
              <a:gd name="connsiteY0" fmla="*/ 0 h 3634450"/>
              <a:gd name="connsiteX1" fmla="*/ 2640487 w 2640487"/>
              <a:gd name="connsiteY1" fmla="*/ 0 h 3634450"/>
              <a:gd name="connsiteX2" fmla="*/ 2640487 w 2640487"/>
              <a:gd name="connsiteY2" fmla="*/ 3634450 h 3634450"/>
              <a:gd name="connsiteX3" fmla="*/ 0 w 2640487"/>
              <a:gd name="connsiteY3" fmla="*/ 3634450 h 36344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640487" h="3634450">
                <a:moveTo>
                  <a:pt x="0" y="0"/>
                </a:moveTo>
                <a:lnTo>
                  <a:pt x="2640487" y="0"/>
                </a:lnTo>
                <a:lnTo>
                  <a:pt x="2640487" y="3634450"/>
                </a:lnTo>
                <a:lnTo>
                  <a:pt x="0" y="3634450"/>
                </a:lnTo>
                <a:close/>
              </a:path>
            </a:pathLst>
          </a:custGeom>
          <a:solidFill>
            <a:schemeClr val="bg2">
              <a:lumMod val="50000"/>
              <a:alpha val="50000"/>
            </a:schemeClr>
          </a:solidFill>
        </p:spPr>
        <p:txBody>
          <a:bodyPr wrap="square">
            <a:noAutofit/>
          </a:bodyPr>
          <a:lstStyle/>
          <a:p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9737340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ction Header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3">
            <a:extLst>
              <a:ext uri="{FF2B5EF4-FFF2-40B4-BE49-F238E27FC236}">
                <a16:creationId xmlns:a16="http://schemas.microsoft.com/office/drawing/2014/main" id="{6A21833F-F84B-B675-683E-D63180240F63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206451" y="0"/>
            <a:ext cx="3985550" cy="6858000"/>
          </a:xfrm>
          <a:custGeom>
            <a:avLst/>
            <a:gdLst>
              <a:gd name="csX0" fmla="*/ 0 w 2849879"/>
              <a:gd name="csY0" fmla="*/ 0 h 5257799"/>
              <a:gd name="csX1" fmla="*/ 2849879 w 2849879"/>
              <a:gd name="csY1" fmla="*/ 0 h 5257799"/>
              <a:gd name="csX2" fmla="*/ 2849879 w 2849879"/>
              <a:gd name="csY2" fmla="*/ 5257799 h 5257799"/>
              <a:gd name="csX3" fmla="*/ 0 w 2849879"/>
              <a:gd name="csY3" fmla="*/ 5257799 h 525779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2849879" h="5257799">
                <a:moveTo>
                  <a:pt x="0" y="0"/>
                </a:moveTo>
                <a:lnTo>
                  <a:pt x="2849879" y="0"/>
                </a:lnTo>
                <a:lnTo>
                  <a:pt x="2849879" y="5257799"/>
                </a:lnTo>
                <a:lnTo>
                  <a:pt x="0" y="5257799"/>
                </a:lnTo>
                <a:close/>
              </a:path>
            </a:pathLst>
          </a:custGeom>
          <a:solidFill>
            <a:schemeClr val="bg2">
              <a:lumMod val="50000"/>
              <a:alpha val="50000"/>
            </a:schemeClr>
          </a:solidFill>
        </p:spPr>
        <p:txBody>
          <a:bodyPr wrap="square">
            <a:noAutofit/>
          </a:bodyPr>
          <a:lstStyle/>
          <a:p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7287454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9825342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3">
            <a:extLst>
              <a:ext uri="{FF2B5EF4-FFF2-40B4-BE49-F238E27FC236}">
                <a16:creationId xmlns:a16="http://schemas.microsoft.com/office/drawing/2014/main" id="{F0E24A93-FF36-6D2F-BDD1-754503DC473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09600" y="792480"/>
            <a:ext cx="3468914" cy="5415279"/>
          </a:xfrm>
          <a:custGeom>
            <a:avLst/>
            <a:gdLst>
              <a:gd name="csX0" fmla="*/ 0 w 2849879"/>
              <a:gd name="csY0" fmla="*/ 0 h 5257799"/>
              <a:gd name="csX1" fmla="*/ 2849879 w 2849879"/>
              <a:gd name="csY1" fmla="*/ 0 h 5257799"/>
              <a:gd name="csX2" fmla="*/ 2849879 w 2849879"/>
              <a:gd name="csY2" fmla="*/ 5257799 h 5257799"/>
              <a:gd name="csX3" fmla="*/ 0 w 2849879"/>
              <a:gd name="csY3" fmla="*/ 5257799 h 525779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2849879" h="5257799">
                <a:moveTo>
                  <a:pt x="0" y="0"/>
                </a:moveTo>
                <a:lnTo>
                  <a:pt x="2849879" y="0"/>
                </a:lnTo>
                <a:lnTo>
                  <a:pt x="2849879" y="5257799"/>
                </a:lnTo>
                <a:lnTo>
                  <a:pt x="0" y="5257799"/>
                </a:lnTo>
                <a:close/>
              </a:path>
            </a:pathLst>
          </a:custGeom>
          <a:solidFill>
            <a:schemeClr val="bg2">
              <a:lumMod val="50000"/>
              <a:alpha val="50000"/>
            </a:schemeClr>
          </a:solidFill>
        </p:spPr>
        <p:txBody>
          <a:bodyPr wrap="square">
            <a:noAutofit/>
          </a:bodyPr>
          <a:lstStyle/>
          <a:p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5029221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7">
            <a:extLst>
              <a:ext uri="{FF2B5EF4-FFF2-40B4-BE49-F238E27FC236}">
                <a16:creationId xmlns:a16="http://schemas.microsoft.com/office/drawing/2014/main" id="{92C3C7A2-6237-6B42-1149-FA9CB4BFC53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559371" y="3775179"/>
            <a:ext cx="3073258" cy="2417277"/>
          </a:xfrm>
          <a:custGeom>
            <a:avLst/>
            <a:gdLst>
              <a:gd name="connsiteX0" fmla="*/ 0 w 3073258"/>
              <a:gd name="connsiteY0" fmla="*/ 0 h 2308325"/>
              <a:gd name="connsiteX1" fmla="*/ 3073258 w 3073258"/>
              <a:gd name="connsiteY1" fmla="*/ 0 h 2308325"/>
              <a:gd name="connsiteX2" fmla="*/ 3073258 w 3073258"/>
              <a:gd name="connsiteY2" fmla="*/ 2308325 h 2308325"/>
              <a:gd name="connsiteX3" fmla="*/ 0 w 3073258"/>
              <a:gd name="connsiteY3" fmla="*/ 2308325 h 23083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73258" h="2308325">
                <a:moveTo>
                  <a:pt x="0" y="0"/>
                </a:moveTo>
                <a:lnTo>
                  <a:pt x="3073258" y="0"/>
                </a:lnTo>
                <a:lnTo>
                  <a:pt x="3073258" y="2308325"/>
                </a:lnTo>
                <a:lnTo>
                  <a:pt x="0" y="2308325"/>
                </a:lnTo>
                <a:close/>
              </a:path>
            </a:pathLst>
          </a:custGeom>
          <a:solidFill>
            <a:schemeClr val="bg2">
              <a:lumMod val="50000"/>
              <a:alpha val="50000"/>
            </a:schemeClr>
          </a:solidFill>
        </p:spPr>
        <p:txBody>
          <a:bodyPr wrap="square">
            <a:noAutofit/>
          </a:bodyPr>
          <a:lstStyle/>
          <a:p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11118179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8028939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3">
            <a:extLst>
              <a:ext uri="{FF2B5EF4-FFF2-40B4-BE49-F238E27FC236}">
                <a16:creationId xmlns:a16="http://schemas.microsoft.com/office/drawing/2014/main" id="{CEF60D51-5E91-361C-AFF6-53AA34BECE91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21175" y="763930"/>
            <a:ext cx="4471481" cy="4976470"/>
          </a:xfrm>
          <a:custGeom>
            <a:avLst/>
            <a:gdLst>
              <a:gd name="connsiteX0" fmla="*/ 0 w 10972800"/>
              <a:gd name="connsiteY0" fmla="*/ 0 h 2801074"/>
              <a:gd name="connsiteX1" fmla="*/ 10972800 w 10972800"/>
              <a:gd name="connsiteY1" fmla="*/ 0 h 2801074"/>
              <a:gd name="connsiteX2" fmla="*/ 10972800 w 10972800"/>
              <a:gd name="connsiteY2" fmla="*/ 2801074 h 2801074"/>
              <a:gd name="connsiteX3" fmla="*/ 0 w 10972800"/>
              <a:gd name="connsiteY3" fmla="*/ 2801074 h 28010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972800" h="2801074">
                <a:moveTo>
                  <a:pt x="0" y="0"/>
                </a:moveTo>
                <a:lnTo>
                  <a:pt x="10972800" y="0"/>
                </a:lnTo>
                <a:lnTo>
                  <a:pt x="10972800" y="2801074"/>
                </a:lnTo>
                <a:lnTo>
                  <a:pt x="0" y="2801074"/>
                </a:lnTo>
                <a:close/>
              </a:path>
            </a:pathLst>
          </a:custGeom>
          <a:solidFill>
            <a:schemeClr val="bg2">
              <a:lumMod val="50000"/>
              <a:alpha val="30000"/>
            </a:schemeClr>
          </a:solidFill>
        </p:spPr>
        <p:txBody>
          <a:bodyPr wrap="square">
            <a:noAutofit/>
          </a:bodyPr>
          <a:lstStyle/>
          <a:p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36780607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1AA7D419-5E1C-72C3-4A83-4C54366DE0A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09600" y="3429000"/>
            <a:ext cx="10972800" cy="2857500"/>
          </a:xfrm>
          <a:custGeom>
            <a:avLst/>
            <a:gdLst>
              <a:gd name="csX0" fmla="*/ 0 w 5524500"/>
              <a:gd name="csY0" fmla="*/ 0 h 2767914"/>
              <a:gd name="csX1" fmla="*/ 5524500 w 5524500"/>
              <a:gd name="csY1" fmla="*/ 0 h 2767914"/>
              <a:gd name="csX2" fmla="*/ 5524500 w 5524500"/>
              <a:gd name="csY2" fmla="*/ 2767914 h 2767914"/>
              <a:gd name="csX3" fmla="*/ 0 w 5524500"/>
              <a:gd name="csY3" fmla="*/ 2767914 h 276791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5524500" h="2767914">
                <a:moveTo>
                  <a:pt x="0" y="0"/>
                </a:moveTo>
                <a:lnTo>
                  <a:pt x="5524500" y="0"/>
                </a:lnTo>
                <a:lnTo>
                  <a:pt x="5524500" y="2767914"/>
                </a:lnTo>
                <a:lnTo>
                  <a:pt x="0" y="2767914"/>
                </a:lnTo>
                <a:close/>
              </a:path>
            </a:pathLst>
          </a:custGeom>
          <a:solidFill>
            <a:schemeClr val="bg1">
              <a:lumMod val="85000"/>
              <a:alpha val="66928"/>
            </a:schemeClr>
          </a:solidFill>
        </p:spPr>
        <p:txBody>
          <a:bodyPr wrap="square">
            <a:noAutofit/>
          </a:bodyPr>
          <a:lstStyle>
            <a:lvl1pPr>
              <a:defRPr lang="en-US"/>
            </a:lvl1pPr>
          </a:lstStyle>
          <a:p>
            <a:pPr lvl="0"/>
            <a:endParaRPr lang="en-US"/>
          </a:p>
        </p:txBody>
      </p:sp>
      <p:sp>
        <p:nvSpPr>
          <p:cNvPr id="9" name="Picture Placeholder 5">
            <a:extLst>
              <a:ext uri="{FF2B5EF4-FFF2-40B4-BE49-F238E27FC236}">
                <a16:creationId xmlns:a16="http://schemas.microsoft.com/office/drawing/2014/main" id="{84AE68DA-C452-A38B-A566-58209D3C661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09600" y="772855"/>
            <a:ext cx="1239724" cy="1239724"/>
          </a:xfrm>
          <a:custGeom>
            <a:avLst/>
            <a:gdLst>
              <a:gd name="csX0" fmla="*/ 619862 w 1239724"/>
              <a:gd name="csY0" fmla="*/ 0 h 1239724"/>
              <a:gd name="csX1" fmla="*/ 1239724 w 1239724"/>
              <a:gd name="csY1" fmla="*/ 619862 h 1239724"/>
              <a:gd name="csX2" fmla="*/ 619862 w 1239724"/>
              <a:gd name="csY2" fmla="*/ 1239724 h 1239724"/>
              <a:gd name="csX3" fmla="*/ 0 w 1239724"/>
              <a:gd name="csY3" fmla="*/ 619862 h 1239724"/>
              <a:gd name="csX4" fmla="*/ 619862 w 1239724"/>
              <a:gd name="csY4" fmla="*/ 0 h 123972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239724" h="1239724">
                <a:moveTo>
                  <a:pt x="619862" y="0"/>
                </a:moveTo>
                <a:cubicBezTo>
                  <a:pt x="962202" y="0"/>
                  <a:pt x="1239724" y="277522"/>
                  <a:pt x="1239724" y="619862"/>
                </a:cubicBezTo>
                <a:cubicBezTo>
                  <a:pt x="1239724" y="962202"/>
                  <a:pt x="962202" y="1239724"/>
                  <a:pt x="619862" y="1239724"/>
                </a:cubicBezTo>
                <a:cubicBezTo>
                  <a:pt x="277522" y="1239724"/>
                  <a:pt x="0" y="962202"/>
                  <a:pt x="0" y="619862"/>
                </a:cubicBezTo>
                <a:cubicBezTo>
                  <a:pt x="0" y="277522"/>
                  <a:pt x="277522" y="0"/>
                  <a:pt x="619862" y="0"/>
                </a:cubicBezTo>
                <a:close/>
              </a:path>
            </a:pathLst>
          </a:custGeom>
          <a:solidFill>
            <a:schemeClr val="bg1">
              <a:lumMod val="85000"/>
              <a:alpha val="66928"/>
            </a:schemeClr>
          </a:solidFill>
        </p:spPr>
        <p:txBody>
          <a:bodyPr wrap="square">
            <a:noAutofit/>
          </a:bodyPr>
          <a:lstStyle>
            <a:lvl1pPr>
              <a:defRPr lang="en-US"/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488732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2">
            <a:extLst>
              <a:ext uri="{FF2B5EF4-FFF2-40B4-BE49-F238E27FC236}">
                <a16:creationId xmlns:a16="http://schemas.microsoft.com/office/drawing/2014/main" id="{FD96D211-B2E5-A780-76C9-228063B0C7A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12192000" cy="6858000"/>
          </a:xfrm>
          <a:custGeom>
            <a:avLst/>
            <a:gdLst>
              <a:gd name="csX0" fmla="*/ 0 w 12192000"/>
              <a:gd name="csY0" fmla="*/ 0 h 6858000"/>
              <a:gd name="csX1" fmla="*/ 12192000 w 12192000"/>
              <a:gd name="csY1" fmla="*/ 0 h 6858000"/>
              <a:gd name="csX2" fmla="*/ 12192000 w 12192000"/>
              <a:gd name="csY2" fmla="*/ 6858000 h 6858000"/>
              <a:gd name="csX3" fmla="*/ 0 w 12192000"/>
              <a:gd name="csY3" fmla="*/ 6858000 h 6858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2">
              <a:lumMod val="50000"/>
              <a:alpha val="50000"/>
            </a:schemeClr>
          </a:solidFill>
        </p:spPr>
        <p:txBody>
          <a:bodyPr wrap="square">
            <a:noAutofit/>
          </a:bodyPr>
          <a:lstStyle>
            <a:lvl1pPr>
              <a:defRPr lang="en-ID"/>
            </a:lvl1pPr>
          </a:lstStyle>
          <a:p>
            <a:pPr lvl="0"/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57127126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60992942-B988-DD4E-A24B-B4A9C6BF1001}"/>
              </a:ext>
            </a:extLst>
          </p:cNvPr>
          <p:cNvSpPr/>
          <p:nvPr userDrawn="1"/>
        </p:nvSpPr>
        <p:spPr>
          <a:xfrm>
            <a:off x="5753616" y="1371600"/>
            <a:ext cx="2605008" cy="4568509"/>
          </a:xfrm>
          <a:prstGeom prst="roundRect">
            <a:avLst>
              <a:gd name="adj" fmla="val 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3BFAB45-D728-7EF6-0F4B-604AB01C43FF}"/>
              </a:ext>
            </a:extLst>
          </p:cNvPr>
          <p:cNvSpPr txBox="1"/>
          <p:nvPr userDrawn="1"/>
        </p:nvSpPr>
        <p:spPr>
          <a:xfrm>
            <a:off x="5975790" y="3882924"/>
            <a:ext cx="214495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+mj-lt"/>
              </a:rPr>
              <a:t>November</a:t>
            </a:r>
            <a:r>
              <a:rPr lang="id-ID" dirty="0">
                <a:solidFill>
                  <a:schemeClr val="bg1"/>
                </a:solidFill>
                <a:latin typeface="+mj-lt"/>
              </a:rPr>
              <a:t> 2025</a:t>
            </a:r>
          </a:p>
        </p:txBody>
      </p:sp>
      <p:sp>
        <p:nvSpPr>
          <p:cNvPr id="10" name="Graphic 8">
            <a:extLst>
              <a:ext uri="{FF2B5EF4-FFF2-40B4-BE49-F238E27FC236}">
                <a16:creationId xmlns:a16="http://schemas.microsoft.com/office/drawing/2014/main" id="{385AAF33-1145-8307-67B2-E97E06A0D4FB}"/>
              </a:ext>
            </a:extLst>
          </p:cNvPr>
          <p:cNvSpPr/>
          <p:nvPr userDrawn="1"/>
        </p:nvSpPr>
        <p:spPr>
          <a:xfrm rot="18900000">
            <a:off x="7709264" y="4883155"/>
            <a:ext cx="254925" cy="258344"/>
          </a:xfrm>
          <a:custGeom>
            <a:avLst/>
            <a:gdLst>
              <a:gd name="connsiteX0" fmla="*/ 488652 w 641489"/>
              <a:gd name="connsiteY0" fmla="*/ 284150 h 650100"/>
              <a:gd name="connsiteX1" fmla="*/ 273387 w 641489"/>
              <a:gd name="connsiteY1" fmla="*/ 58122 h 650100"/>
              <a:gd name="connsiteX2" fmla="*/ 329355 w 641489"/>
              <a:gd name="connsiteY2" fmla="*/ 0 h 650100"/>
              <a:gd name="connsiteX3" fmla="*/ 641490 w 641489"/>
              <a:gd name="connsiteY3" fmla="*/ 325050 h 650100"/>
              <a:gd name="connsiteX4" fmla="*/ 329355 w 641489"/>
              <a:gd name="connsiteY4" fmla="*/ 650100 h 650100"/>
              <a:gd name="connsiteX5" fmla="*/ 273387 w 641489"/>
              <a:gd name="connsiteY5" fmla="*/ 591979 h 650100"/>
              <a:gd name="connsiteX6" fmla="*/ 488652 w 641489"/>
              <a:gd name="connsiteY6" fmla="*/ 365951 h 650100"/>
              <a:gd name="connsiteX7" fmla="*/ 0 w 641489"/>
              <a:gd name="connsiteY7" fmla="*/ 365951 h 650100"/>
              <a:gd name="connsiteX8" fmla="*/ 0 w 641489"/>
              <a:gd name="connsiteY8" fmla="*/ 284150 h 650100"/>
              <a:gd name="connsiteX9" fmla="*/ 488652 w 641489"/>
              <a:gd name="connsiteY9" fmla="*/ 284150 h 650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41489" h="650100">
                <a:moveTo>
                  <a:pt x="488652" y="284150"/>
                </a:moveTo>
                <a:lnTo>
                  <a:pt x="273387" y="58122"/>
                </a:lnTo>
                <a:lnTo>
                  <a:pt x="329355" y="0"/>
                </a:lnTo>
                <a:lnTo>
                  <a:pt x="641490" y="325050"/>
                </a:lnTo>
                <a:lnTo>
                  <a:pt x="329355" y="650100"/>
                </a:lnTo>
                <a:lnTo>
                  <a:pt x="273387" y="591979"/>
                </a:lnTo>
                <a:lnTo>
                  <a:pt x="488652" y="365951"/>
                </a:lnTo>
                <a:lnTo>
                  <a:pt x="0" y="365951"/>
                </a:lnTo>
                <a:lnTo>
                  <a:pt x="0" y="284150"/>
                </a:lnTo>
                <a:lnTo>
                  <a:pt x="488652" y="284150"/>
                </a:lnTo>
                <a:close/>
              </a:path>
            </a:pathLst>
          </a:custGeom>
          <a:solidFill>
            <a:schemeClr val="bg1"/>
          </a:solidFill>
          <a:ln w="21273" cap="flat">
            <a:noFill/>
            <a:prstDash val="solid"/>
            <a:miter/>
          </a:ln>
        </p:spPr>
        <p:txBody>
          <a:bodyPr rtlCol="0" anchor="ctr"/>
          <a:lstStyle/>
          <a:p>
            <a:endParaRPr lang="id-ID">
              <a:solidFill>
                <a:schemeClr val="bg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D3177BC-61BB-E4CE-5684-FEEB2C0EAEC8}"/>
              </a:ext>
            </a:extLst>
          </p:cNvPr>
          <p:cNvSpPr txBox="1"/>
          <p:nvPr userDrawn="1"/>
        </p:nvSpPr>
        <p:spPr>
          <a:xfrm>
            <a:off x="5975791" y="4482550"/>
            <a:ext cx="226900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sz="1600" dirty="0">
                <a:solidFill>
                  <a:schemeClr val="bg1"/>
                </a:solidFill>
                <a:latin typeface="+mj-lt"/>
                <a:ea typeface="Roboto" panose="02000000000000000000" pitchFamily="2" charset="0"/>
              </a:rPr>
              <a:t>3 Steps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95F3361-B6B6-D9CC-583E-F70BCD219D51}"/>
              </a:ext>
            </a:extLst>
          </p:cNvPr>
          <p:cNvSpPr txBox="1"/>
          <p:nvPr userDrawn="1"/>
        </p:nvSpPr>
        <p:spPr>
          <a:xfrm>
            <a:off x="5975791" y="4767692"/>
            <a:ext cx="167946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sz="4400" dirty="0">
                <a:solidFill>
                  <a:schemeClr val="bg1"/>
                </a:solidFill>
                <a:latin typeface="+mj-lt"/>
                <a:ea typeface="Roboto" panose="02000000000000000000" pitchFamily="2" charset="0"/>
              </a:rPr>
              <a:t>311M</a:t>
            </a:r>
          </a:p>
        </p:txBody>
      </p:sp>
      <p:sp>
        <p:nvSpPr>
          <p:cNvPr id="13" name="Google Shape;22;p1">
            <a:extLst>
              <a:ext uri="{FF2B5EF4-FFF2-40B4-BE49-F238E27FC236}">
                <a16:creationId xmlns:a16="http://schemas.microsoft.com/office/drawing/2014/main" id="{C75F2669-B06E-6EE3-ACCE-A3B04531ED6C}"/>
              </a:ext>
            </a:extLst>
          </p:cNvPr>
          <p:cNvSpPr txBox="1"/>
          <p:nvPr userDrawn="1"/>
        </p:nvSpPr>
        <p:spPr>
          <a:xfrm>
            <a:off x="5975791" y="5393212"/>
            <a:ext cx="2269002" cy="3323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200" b="0" i="0" u="none" strike="noStrike" cap="none" dirty="0">
                <a:solidFill>
                  <a:schemeClr val="bg1"/>
                </a:solidFill>
                <a:latin typeface="+mj-lt"/>
                <a:ea typeface="Arial"/>
                <a:cs typeface="Arial"/>
                <a:sym typeface="Arial"/>
              </a:rPr>
              <a:t>Lorem ipsum </a:t>
            </a:r>
            <a:r>
              <a:rPr lang="en-ID" sz="1200" b="0" i="0" u="none" strike="noStrike" cap="none" dirty="0" err="1">
                <a:solidFill>
                  <a:schemeClr val="bg1"/>
                </a:solidFill>
                <a:latin typeface="+mj-lt"/>
                <a:ea typeface="Arial"/>
                <a:cs typeface="Arial"/>
                <a:sym typeface="Arial"/>
              </a:rPr>
              <a:t>dolor</a:t>
            </a:r>
            <a:r>
              <a:rPr lang="en-ID" sz="1200" b="0" i="0" u="none" strike="noStrike" cap="none" dirty="0">
                <a:solidFill>
                  <a:schemeClr val="bg1"/>
                </a:solidFill>
                <a:latin typeface="+mj-lt"/>
                <a:ea typeface="Arial"/>
                <a:cs typeface="Arial"/>
                <a:sym typeface="Arial"/>
              </a:rPr>
              <a:t> sit </a:t>
            </a:r>
            <a:r>
              <a:rPr lang="en-ID" sz="1200" b="0" i="0" u="none" strike="noStrike" cap="none" dirty="0" err="1">
                <a:solidFill>
                  <a:schemeClr val="bg1"/>
                </a:solidFill>
                <a:latin typeface="+mj-lt"/>
                <a:ea typeface="Arial"/>
                <a:cs typeface="Arial"/>
                <a:sym typeface="Arial"/>
              </a:rPr>
              <a:t>amet</a:t>
            </a:r>
            <a:r>
              <a:rPr lang="en-ID" sz="1200" b="0" i="0" u="none" strike="noStrike" cap="none" dirty="0">
                <a:solidFill>
                  <a:schemeClr val="bg1"/>
                </a:solidFill>
                <a:latin typeface="+mj-lt"/>
                <a:ea typeface="Arial"/>
                <a:cs typeface="Arial"/>
                <a:sym typeface="Arial"/>
              </a:rPr>
              <a:t>.</a:t>
            </a:r>
            <a:endParaRPr sz="1200" b="0" i="0" u="none" strike="noStrike" cap="none" dirty="0">
              <a:solidFill>
                <a:schemeClr val="bg1"/>
              </a:solidFill>
              <a:latin typeface="+mj-lt"/>
              <a:ea typeface="Arial"/>
              <a:cs typeface="Arial"/>
              <a:sym typeface="Arial"/>
            </a:endParaRPr>
          </a:p>
        </p:txBody>
      </p:sp>
      <p:sp>
        <p:nvSpPr>
          <p:cNvPr id="7" name="Picture Placeholder 2">
            <a:extLst>
              <a:ext uri="{FF2B5EF4-FFF2-40B4-BE49-F238E27FC236}">
                <a16:creationId xmlns:a16="http://schemas.microsoft.com/office/drawing/2014/main" id="{43663424-D7C9-B1D3-319A-7575D1E85E5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910067" y="1524000"/>
            <a:ext cx="2292104" cy="2195530"/>
          </a:xfrm>
          <a:prstGeom prst="rect">
            <a:avLst/>
          </a:prstGeom>
          <a:solidFill>
            <a:schemeClr val="bg2">
              <a:lumMod val="75000"/>
              <a:alpha val="27000"/>
            </a:schemeClr>
          </a:solidFill>
        </p:spPr>
        <p:txBody>
          <a:bodyPr wrap="square">
            <a:noAutofit/>
          </a:bodyPr>
          <a:lstStyle/>
          <a:p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1713870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288737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  <p:sldLayoutId id="2147483686" r:id="rId13"/>
    <p:sldLayoutId id="2147483687" r:id="rId14"/>
    <p:sldLayoutId id="2147483688" r:id="rId15"/>
    <p:sldLayoutId id="2147483689" r:id="rId16"/>
    <p:sldLayoutId id="2147483690" r:id="rId17"/>
    <p:sldLayoutId id="2147483691" r:id="rId18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d-ID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84">
          <p15:clr>
            <a:srgbClr val="F26B43"/>
          </p15:clr>
        </p15:guide>
        <p15:guide id="2" pos="3840">
          <p15:clr>
            <a:srgbClr val="F26B43"/>
          </p15:clr>
        </p15:guide>
        <p15:guide id="3" pos="384">
          <p15:clr>
            <a:srgbClr val="F26B43"/>
          </p15:clr>
        </p15:guide>
        <p15:guide id="4" orient="horz" pos="3960">
          <p15:clr>
            <a:srgbClr val="F26B43"/>
          </p15:clr>
        </p15:guide>
        <p15:guide id="5" orient="horz" pos="2160">
          <p15:clr>
            <a:srgbClr val="F26B43"/>
          </p15:clr>
        </p15:guide>
        <p15:guide id="6" pos="7296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4C2ADF59-8032-260C-483E-4D79A868F304}"/>
              </a:ext>
            </a:extLst>
          </p:cNvPr>
          <p:cNvSpPr txBox="1"/>
          <p:nvPr/>
        </p:nvSpPr>
        <p:spPr>
          <a:xfrm>
            <a:off x="442588" y="1363504"/>
            <a:ext cx="5653412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6000" dirty="0">
                <a:solidFill>
                  <a:schemeClr val="bg1"/>
                </a:solidFill>
              </a:rPr>
              <a:t>Analysis of Myntra Apparel Dataset</a:t>
            </a:r>
            <a:endParaRPr lang="en-IN" sz="6000" b="1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C5CD23B-4F35-CAAA-94C6-C074B3E897DB}"/>
              </a:ext>
            </a:extLst>
          </p:cNvPr>
          <p:cNvSpPr txBox="1"/>
          <p:nvPr/>
        </p:nvSpPr>
        <p:spPr>
          <a:xfrm>
            <a:off x="442588" y="4312058"/>
            <a:ext cx="565341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IN" sz="2000" b="1" dirty="0">
                <a:solidFill>
                  <a:schemeClr val="bg1"/>
                </a:solidFill>
              </a:rPr>
              <a:t>Data Cleaning, Data Analysis &amp; Excel Functions Case Study</a:t>
            </a:r>
            <a:endParaRPr kumimoji="0" lang="en-ID" sz="20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8" name="Rectangle: Top Corners Rounded 17">
            <a:extLst>
              <a:ext uri="{FF2B5EF4-FFF2-40B4-BE49-F238E27FC236}">
                <a16:creationId xmlns:a16="http://schemas.microsoft.com/office/drawing/2014/main" id="{7DB012CF-5D28-3804-7AA9-D77F66853298}"/>
              </a:ext>
            </a:extLst>
          </p:cNvPr>
          <p:cNvSpPr/>
          <p:nvPr/>
        </p:nvSpPr>
        <p:spPr>
          <a:xfrm rot="10800000">
            <a:off x="204788" y="5222002"/>
            <a:ext cx="11791950" cy="1427451"/>
          </a:xfrm>
          <a:prstGeom prst="round2SameRect">
            <a:avLst>
              <a:gd name="adj1" fmla="val 15777"/>
              <a:gd name="adj2" fmla="val 0"/>
            </a:avLst>
          </a:prstGeom>
          <a:solidFill>
            <a:schemeClr val="tx2">
              <a:lumMod val="25000"/>
              <a:lumOff val="75000"/>
              <a:alpha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D080279-EFBA-2E81-CC10-1ED27B724F76}"/>
              </a:ext>
            </a:extLst>
          </p:cNvPr>
          <p:cNvSpPr txBox="1"/>
          <p:nvPr/>
        </p:nvSpPr>
        <p:spPr>
          <a:xfrm>
            <a:off x="9993431" y="5672464"/>
            <a:ext cx="202701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E8E8E8">
                    <a:lumMod val="25000"/>
                  </a:srgbClr>
                </a:solidFill>
                <a:effectLst/>
                <a:uLnTx/>
                <a:uFillTx/>
                <a:latin typeface="DM Sans" pitchFamily="2" charset="0"/>
                <a:ea typeface="Roboto" panose="02000000000000000000" pitchFamily="2" charset="0"/>
                <a:cs typeface="+mn-cs"/>
              </a:rPr>
              <a:t>Date.</a:t>
            </a:r>
            <a:endParaRPr kumimoji="0" lang="en-ID" sz="1200" b="0" i="0" u="none" strike="noStrike" kern="1200" cap="none" spc="0" normalizeH="0" baseline="0" noProof="0" dirty="0">
              <a:ln>
                <a:noFill/>
              </a:ln>
              <a:solidFill>
                <a:srgbClr val="E8E8E8">
                  <a:lumMod val="25000"/>
                </a:srgbClr>
              </a:solidFill>
              <a:effectLst/>
              <a:uLnTx/>
              <a:uFillTx/>
              <a:latin typeface="DM Sans" pitchFamily="2" charset="0"/>
              <a:ea typeface="Roboto" panose="02000000000000000000" pitchFamily="2" charset="0"/>
              <a:cs typeface="+mn-cs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B167811-CA42-BE44-E130-74195741F844}"/>
              </a:ext>
            </a:extLst>
          </p:cNvPr>
          <p:cNvSpPr txBox="1"/>
          <p:nvPr/>
        </p:nvSpPr>
        <p:spPr>
          <a:xfrm>
            <a:off x="9993432" y="5933075"/>
            <a:ext cx="202701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E8E8E8">
                    <a:lumMod val="25000"/>
                  </a:srgbClr>
                </a:solidFill>
                <a:effectLst/>
                <a:uLnTx/>
                <a:uFillTx/>
                <a:latin typeface="DM Sans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XX – XX - XXXX</a:t>
            </a:r>
            <a:endParaRPr kumimoji="0" lang="en-ID" sz="900" b="0" i="0" u="none" strike="noStrike" kern="1200" cap="none" spc="0" normalizeH="0" baseline="0" noProof="0" dirty="0">
              <a:ln>
                <a:noFill/>
              </a:ln>
              <a:solidFill>
                <a:srgbClr val="E8E8E8">
                  <a:lumMod val="25000"/>
                </a:srgbClr>
              </a:solidFill>
              <a:effectLst/>
              <a:uLnTx/>
              <a:uFillTx/>
              <a:latin typeface="DM Sans" pitchFamily="2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7D82CD6-609E-26F8-A44C-AB5599FA663B}"/>
              </a:ext>
            </a:extLst>
          </p:cNvPr>
          <p:cNvSpPr txBox="1"/>
          <p:nvPr/>
        </p:nvSpPr>
        <p:spPr>
          <a:xfrm>
            <a:off x="334178" y="5394466"/>
            <a:ext cx="643890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IN" sz="1600" dirty="0">
                <a:solidFill>
                  <a:schemeClr val="bg1"/>
                </a:solidFill>
              </a:rPr>
              <a:t>Your Name: Rakshitha J</a:t>
            </a:r>
          </a:p>
          <a:p>
            <a:pPr lvl="0"/>
            <a:r>
              <a:rPr lang="en-IN" sz="1600" dirty="0">
                <a:solidFill>
                  <a:schemeClr val="bg1"/>
                </a:solidFill>
              </a:rPr>
              <a:t>Course Name: Data Analysis </a:t>
            </a:r>
          </a:p>
          <a:p>
            <a:pPr lvl="0"/>
            <a:r>
              <a:rPr lang="en-IN" sz="1600" dirty="0">
                <a:solidFill>
                  <a:schemeClr val="bg1"/>
                </a:solidFill>
              </a:rPr>
              <a:t>Institution Name: </a:t>
            </a:r>
            <a:r>
              <a:rPr lang="en-IN" sz="1600" dirty="0" err="1">
                <a:solidFill>
                  <a:schemeClr val="bg1"/>
                </a:solidFill>
              </a:rPr>
              <a:t>WsCube</a:t>
            </a:r>
            <a:r>
              <a:rPr lang="en-IN" sz="1600" dirty="0">
                <a:solidFill>
                  <a:schemeClr val="bg1"/>
                </a:solidFill>
              </a:rPr>
              <a:t> Tech</a:t>
            </a:r>
          </a:p>
          <a:p>
            <a:pPr lvl="0"/>
            <a:r>
              <a:rPr lang="en-IN" sz="1600" dirty="0">
                <a:solidFill>
                  <a:schemeClr val="bg1"/>
                </a:solidFill>
              </a:rPr>
              <a:t>Date: 29-07-2026</a:t>
            </a:r>
          </a:p>
        </p:txBody>
      </p:sp>
      <p:pic>
        <p:nvPicPr>
          <p:cNvPr id="15" name="Picture Placeholder 14">
            <a:extLst>
              <a:ext uri="{FF2B5EF4-FFF2-40B4-BE49-F238E27FC236}">
                <a16:creationId xmlns:a16="http://schemas.microsoft.com/office/drawing/2014/main" id="{424DF112-EEAE-E8F8-2B48-8AF785408EBE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30" t="4961" r="30" b="14485"/>
          <a:stretch>
            <a:fillRect/>
          </a:stretch>
        </p:blipFill>
        <p:spPr>
          <a:xfrm>
            <a:off x="6645494" y="208546"/>
            <a:ext cx="5349656" cy="6464300"/>
          </a:xfr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12849B3-9A29-25AB-84F9-844003EF05F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0747" y="330984"/>
            <a:ext cx="2301439" cy="746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77677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2;p1">
            <a:extLst>
              <a:ext uri="{FF2B5EF4-FFF2-40B4-BE49-F238E27FC236}">
                <a16:creationId xmlns:a16="http://schemas.microsoft.com/office/drawing/2014/main" id="{0FB2E591-18E5-6E41-2A1E-22B2AF23AE02}"/>
              </a:ext>
            </a:extLst>
          </p:cNvPr>
          <p:cNvSpPr txBox="1"/>
          <p:nvPr/>
        </p:nvSpPr>
        <p:spPr>
          <a:xfrm>
            <a:off x="804314" y="924338"/>
            <a:ext cx="11228583" cy="29238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IN" sz="1600" dirty="0">
                <a:latin typeface="Segoe UI" panose="020B0502040204020203" pitchFamily="34" charset="0"/>
                <a:cs typeface="Segoe UI" panose="020B0502040204020203" pitchFamily="34" charset="0"/>
              </a:rPr>
              <a:t>Management wants to analyse the apparel dataset to understand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Segoe UI" panose="020B0502040204020203" pitchFamily="34" charset="0"/>
                <a:cs typeface="Segoe UI" panose="020B0502040204020203" pitchFamily="34" charset="0"/>
              </a:rPr>
              <a:t>Pricing trends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Segoe UI" panose="020B0502040204020203" pitchFamily="34" charset="0"/>
                <a:cs typeface="Segoe UI" panose="020B0502040204020203" pitchFamily="34" charset="0"/>
              </a:rPr>
              <a:t>Discounts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Segoe UI" panose="020B0502040204020203" pitchFamily="34" charset="0"/>
                <a:cs typeface="Segoe UI" panose="020B0502040204020203" pitchFamily="34" charset="0"/>
              </a:rPr>
              <a:t>Product ratings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Segoe UI" panose="020B0502040204020203" pitchFamily="34" charset="0"/>
                <a:cs typeface="Segoe UI" panose="020B0502040204020203" pitchFamily="34" charset="0"/>
              </a:rPr>
              <a:t>Available sizes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Segoe UI" panose="020B0502040204020203" pitchFamily="34" charset="0"/>
                <a:cs typeface="Segoe UI" panose="020B0502040204020203" pitchFamily="34" charset="0"/>
              </a:rPr>
              <a:t>Missing values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Segoe UI" panose="020B0502040204020203" pitchFamily="34" charset="0"/>
                <a:cs typeface="Segoe UI" panose="020B0502040204020203" pitchFamily="34" charset="0"/>
              </a:rPr>
              <a:t>Product lookup using Excel functions </a:t>
            </a:r>
          </a:p>
          <a:p>
            <a:endParaRPr lang="en-IN" sz="1600" b="1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IN" sz="1600" b="1" dirty="0">
                <a:latin typeface="Segoe UI" panose="020B0502040204020203" pitchFamily="34" charset="0"/>
                <a:cs typeface="Segoe UI" panose="020B0502040204020203" pitchFamily="34" charset="0"/>
              </a:rPr>
              <a:t>Objective</a:t>
            </a:r>
          </a:p>
          <a:p>
            <a:r>
              <a:rPr lang="en-IN" sz="1600" dirty="0">
                <a:latin typeface="Segoe UI" panose="020B0502040204020203" pitchFamily="34" charset="0"/>
                <a:cs typeface="Segoe UI" panose="020B0502040204020203" pitchFamily="34" charset="0"/>
              </a:rPr>
              <a:t>Generate business insights using Excel data cleaning, analysis, and Lookup functions.</a:t>
            </a:r>
          </a:p>
          <a:p>
            <a:pPr lvl="0">
              <a:lnSpc>
                <a:spcPct val="150000"/>
              </a:lnSpc>
            </a:pPr>
            <a:endParaRPr kumimoji="0" lang="en-GB" sz="160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ea typeface="Arial"/>
              <a:cs typeface="Segoe UI" panose="020B0502040204020203" pitchFamily="34" charset="0"/>
              <a:sym typeface="Arial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27569386-12CB-2A1D-FC25-2373269C0390}"/>
              </a:ext>
            </a:extLst>
          </p:cNvPr>
          <p:cNvSpPr/>
          <p:nvPr/>
        </p:nvSpPr>
        <p:spPr>
          <a:xfrm rot="16200000" flipH="1">
            <a:off x="-53126" y="-254988"/>
            <a:ext cx="515620" cy="1710860"/>
          </a:xfrm>
          <a:prstGeom prst="rect">
            <a:avLst/>
          </a:prstGeom>
          <a:gradFill flip="none" rotWithShape="1">
            <a:gsLst>
              <a:gs pos="42000">
                <a:schemeClr val="accent1">
                  <a:lumMod val="75000"/>
                  <a:alpha val="35000"/>
                </a:schemeClr>
              </a:gs>
              <a:gs pos="0">
                <a:schemeClr val="accent1"/>
              </a:gs>
              <a:gs pos="89000">
                <a:schemeClr val="accent1">
                  <a:lumMod val="75000"/>
                  <a:alpha val="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anrope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1769084-7B67-EC8D-5C1F-446AD98EEC95}"/>
              </a:ext>
            </a:extLst>
          </p:cNvPr>
          <p:cNvSpPr txBox="1"/>
          <p:nvPr/>
        </p:nvSpPr>
        <p:spPr>
          <a:xfrm>
            <a:off x="683784" y="233593"/>
            <a:ext cx="458418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IN" sz="3600" b="1" dirty="0">
                <a:latin typeface="Segoe UI" panose="020B0502040204020203" pitchFamily="34" charset="0"/>
                <a:cs typeface="Segoe UI" panose="020B0502040204020203" pitchFamily="34" charset="0"/>
              </a:rPr>
              <a:t>Business Problem:</a:t>
            </a:r>
            <a:endParaRPr kumimoji="0" lang="en-IN" sz="36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A7F89DA-80A4-90BE-9C0D-0757FB296910}"/>
              </a:ext>
            </a:extLst>
          </p:cNvPr>
          <p:cNvSpPr/>
          <p:nvPr/>
        </p:nvSpPr>
        <p:spPr>
          <a:xfrm rot="16200000" flipH="1">
            <a:off x="10699874" y="-254988"/>
            <a:ext cx="515620" cy="1710860"/>
          </a:xfrm>
          <a:prstGeom prst="rect">
            <a:avLst/>
          </a:prstGeom>
          <a:gradFill flip="none" rotWithShape="1">
            <a:gsLst>
              <a:gs pos="42000">
                <a:schemeClr val="accent1">
                  <a:lumMod val="75000"/>
                  <a:alpha val="35000"/>
                </a:schemeClr>
              </a:gs>
              <a:gs pos="0">
                <a:schemeClr val="accent1"/>
              </a:gs>
              <a:gs pos="89000">
                <a:schemeClr val="accent1">
                  <a:lumMod val="75000"/>
                  <a:alpha val="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anrope"/>
              <a:ea typeface="+mn-ea"/>
              <a:cs typeface="+mn-cs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C4A82B8-C756-E8FA-245E-E782A093B1A0}"/>
              </a:ext>
            </a:extLst>
          </p:cNvPr>
          <p:cNvSpPr txBox="1"/>
          <p:nvPr/>
        </p:nvSpPr>
        <p:spPr>
          <a:xfrm>
            <a:off x="683784" y="4601951"/>
            <a:ext cx="205941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b="1" dirty="0">
                <a:solidFill>
                  <a:srgbClr val="FF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Analysis Workflow</a:t>
            </a:r>
            <a:r>
              <a:rPr lang="en-IN" sz="1600" b="1" dirty="0">
                <a:latin typeface="Segoe UI" panose="020B0502040204020203" pitchFamily="34" charset="0"/>
                <a:cs typeface="Segoe UI" panose="020B0502040204020203" pitchFamily="34" charset="0"/>
              </a:rPr>
              <a:t>:</a:t>
            </a: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35C602B4-726C-FEFC-194A-D7A8B3BA94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0646" y="3698272"/>
            <a:ext cx="7115921" cy="2699736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55C58067-8815-AAC3-7330-2A18CCA643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06964" y="183345"/>
            <a:ext cx="2301439" cy="746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35297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TextBox 31">
            <a:extLst>
              <a:ext uri="{FF2B5EF4-FFF2-40B4-BE49-F238E27FC236}">
                <a16:creationId xmlns:a16="http://schemas.microsoft.com/office/drawing/2014/main" id="{E31A3600-E0F0-884A-E9E0-8CA32197B989}"/>
              </a:ext>
            </a:extLst>
          </p:cNvPr>
          <p:cNvSpPr txBox="1"/>
          <p:nvPr/>
        </p:nvSpPr>
        <p:spPr>
          <a:xfrm>
            <a:off x="289021" y="257810"/>
            <a:ext cx="49744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3600" b="1" dirty="0">
                <a:solidFill>
                  <a:srgbClr val="0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Dataset Overview:</a:t>
            </a:r>
            <a:endParaRPr kumimoji="0" lang="id-ID" sz="36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7BA52476-FE29-CFA4-3381-331BCF36D950}"/>
              </a:ext>
            </a:extLst>
          </p:cNvPr>
          <p:cNvSpPr/>
          <p:nvPr/>
        </p:nvSpPr>
        <p:spPr>
          <a:xfrm rot="16200000" flipH="1">
            <a:off x="-366997" y="-509045"/>
            <a:ext cx="597240" cy="2180040"/>
          </a:xfrm>
          <a:prstGeom prst="rect">
            <a:avLst/>
          </a:prstGeom>
          <a:gradFill flip="none" rotWithShape="1">
            <a:gsLst>
              <a:gs pos="42000">
                <a:schemeClr val="accent1">
                  <a:lumMod val="75000"/>
                  <a:alpha val="35000"/>
                </a:schemeClr>
              </a:gs>
              <a:gs pos="0">
                <a:schemeClr val="accent1"/>
              </a:gs>
              <a:gs pos="89000">
                <a:schemeClr val="accent1">
                  <a:lumMod val="75000"/>
                  <a:alpha val="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anrope"/>
              <a:ea typeface="+mn-ea"/>
              <a:cs typeface="+mn-cs"/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52B1B8B1-5386-CE96-99B2-786E7F61ABA2}"/>
              </a:ext>
            </a:extLst>
          </p:cNvPr>
          <p:cNvSpPr/>
          <p:nvPr/>
        </p:nvSpPr>
        <p:spPr>
          <a:xfrm rot="16200000">
            <a:off x="10624736" y="5284146"/>
            <a:ext cx="515620" cy="2460171"/>
          </a:xfrm>
          <a:prstGeom prst="rect">
            <a:avLst/>
          </a:prstGeom>
          <a:gradFill flip="none" rotWithShape="1">
            <a:gsLst>
              <a:gs pos="42000">
                <a:schemeClr val="accent1">
                  <a:lumMod val="75000"/>
                  <a:alpha val="35000"/>
                </a:schemeClr>
              </a:gs>
              <a:gs pos="0">
                <a:schemeClr val="accent1"/>
              </a:gs>
              <a:gs pos="89000">
                <a:schemeClr val="accent1">
                  <a:lumMod val="75000"/>
                  <a:alpha val="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anrope"/>
              <a:ea typeface="+mn-ea"/>
              <a:cs typeface="+mn-cs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CF2E702-92EF-3576-6C8B-183B70B8B9F6}"/>
              </a:ext>
            </a:extLst>
          </p:cNvPr>
          <p:cNvSpPr/>
          <p:nvPr/>
        </p:nvSpPr>
        <p:spPr>
          <a:xfrm>
            <a:off x="6224018" y="4024362"/>
            <a:ext cx="5340378" cy="685929"/>
          </a:xfrm>
          <a:prstGeom prst="rect">
            <a:avLst/>
          </a:prstGeom>
          <a:solidFill>
            <a:schemeClr val="bg1"/>
          </a:solidFill>
          <a:ln w="6350">
            <a:noFill/>
          </a:ln>
          <a:effectLst>
            <a:outerShdw blurRad="279400" dist="127000" dir="5400000" sx="91000" sy="91000" algn="t" rotWithShape="0">
              <a:prstClr val="black">
                <a:alpha val="6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1200" cap="none" spc="0" normalizeH="0" baseline="0" noProof="0">
              <a:ln w="34925">
                <a:solidFill>
                  <a:srgbClr val="75E2E0"/>
                </a:solidFill>
              </a:ln>
              <a:solidFill>
                <a:srgbClr val="FFFFFF"/>
              </a:solidFill>
              <a:effectLst/>
              <a:uLnTx/>
              <a:uFillTx/>
              <a:latin typeface="Manrope"/>
              <a:ea typeface="+mn-ea"/>
              <a:cs typeface="+mn-c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95E460E-5C4F-EE43-0491-DC65F27906D5}"/>
              </a:ext>
            </a:extLst>
          </p:cNvPr>
          <p:cNvSpPr/>
          <p:nvPr/>
        </p:nvSpPr>
        <p:spPr>
          <a:xfrm>
            <a:off x="627605" y="4902657"/>
            <a:ext cx="5340378" cy="685929"/>
          </a:xfrm>
          <a:prstGeom prst="rect">
            <a:avLst/>
          </a:prstGeom>
          <a:solidFill>
            <a:schemeClr val="bg1"/>
          </a:solidFill>
          <a:ln w="6350">
            <a:noFill/>
          </a:ln>
          <a:effectLst>
            <a:outerShdw blurRad="279400" dist="127000" dir="5400000" sx="91000" sy="91000" algn="t" rotWithShape="0">
              <a:prstClr val="black">
                <a:alpha val="6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1200" cap="none" spc="0" normalizeH="0" baseline="0" noProof="0">
              <a:ln w="34925">
                <a:solidFill>
                  <a:srgbClr val="75E2E0"/>
                </a:solidFill>
              </a:ln>
              <a:solidFill>
                <a:srgbClr val="FFFFFF"/>
              </a:solidFill>
              <a:effectLst/>
              <a:uLnTx/>
              <a:uFillTx/>
              <a:latin typeface="Manrope"/>
              <a:ea typeface="+mn-ea"/>
              <a:cs typeface="+mn-cs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C63F5B1-3A1D-A4AC-8E57-64A404317C8E}"/>
              </a:ext>
            </a:extLst>
          </p:cNvPr>
          <p:cNvSpPr/>
          <p:nvPr/>
        </p:nvSpPr>
        <p:spPr>
          <a:xfrm>
            <a:off x="6224018" y="4902657"/>
            <a:ext cx="5340378" cy="685929"/>
          </a:xfrm>
          <a:prstGeom prst="rect">
            <a:avLst/>
          </a:prstGeom>
          <a:solidFill>
            <a:schemeClr val="bg1"/>
          </a:solidFill>
          <a:ln w="6350">
            <a:noFill/>
          </a:ln>
          <a:effectLst>
            <a:outerShdw blurRad="279400" dist="127000" dir="5400000" sx="91000" sy="91000" algn="t" rotWithShape="0">
              <a:prstClr val="black">
                <a:alpha val="6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1200" cap="none" spc="0" normalizeH="0" baseline="0" noProof="0">
              <a:ln w="34925">
                <a:solidFill>
                  <a:srgbClr val="75E2E0"/>
                </a:solidFill>
              </a:ln>
              <a:solidFill>
                <a:srgbClr val="FFFFFF"/>
              </a:solidFill>
              <a:effectLst/>
              <a:uLnTx/>
              <a:uFillTx/>
              <a:latin typeface="Manrope"/>
              <a:ea typeface="+mn-ea"/>
              <a:cs typeface="+mn-cs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137F7CD-E028-F2D7-566C-11800AED5A30}"/>
              </a:ext>
            </a:extLst>
          </p:cNvPr>
          <p:cNvSpPr txBox="1"/>
          <p:nvPr/>
        </p:nvSpPr>
        <p:spPr>
          <a:xfrm flipH="1">
            <a:off x="656218" y="5048857"/>
            <a:ext cx="6146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03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9218E01-C95A-7945-635C-9752D776B36F}"/>
              </a:ext>
            </a:extLst>
          </p:cNvPr>
          <p:cNvSpPr txBox="1"/>
          <p:nvPr/>
        </p:nvSpPr>
        <p:spPr>
          <a:xfrm flipH="1">
            <a:off x="6284858" y="5048857"/>
            <a:ext cx="6146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03</a:t>
            </a: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B1DB9738-38B7-9517-470C-34F9A95DF02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4691921"/>
              </p:ext>
            </p:extLst>
          </p:nvPr>
        </p:nvGraphicFramePr>
        <p:xfrm>
          <a:off x="876485" y="1595562"/>
          <a:ext cx="5801680" cy="4667207"/>
        </p:xfrm>
        <a:graphic>
          <a:graphicData uri="http://schemas.openxmlformats.org/drawingml/2006/table">
            <a:tbl>
              <a:tblPr/>
              <a:tblGrid>
                <a:gridCol w="1823172">
                  <a:extLst>
                    <a:ext uri="{9D8B030D-6E8A-4147-A177-3AD203B41FA5}">
                      <a16:colId xmlns:a16="http://schemas.microsoft.com/office/drawing/2014/main" val="862913079"/>
                    </a:ext>
                  </a:extLst>
                </a:gridCol>
                <a:gridCol w="3978508">
                  <a:extLst>
                    <a:ext uri="{9D8B030D-6E8A-4147-A177-3AD203B41FA5}">
                      <a16:colId xmlns:a16="http://schemas.microsoft.com/office/drawing/2014/main" val="1269738937"/>
                    </a:ext>
                  </a:extLst>
                </a:gridCol>
              </a:tblGrid>
              <a:tr h="29082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Feature</a:t>
                      </a:r>
                    </a:p>
                  </a:txBody>
                  <a:tcPr marL="7145" marR="7145" marT="714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3CC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200" b="1" i="0" u="none" strike="noStrike">
                          <a:solidFill>
                            <a:srgbClr val="FFFFFF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Description</a:t>
                      </a:r>
                    </a:p>
                  </a:txBody>
                  <a:tcPr marL="7145" marR="7145" marT="714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808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5520495"/>
                  </a:ext>
                </a:extLst>
              </a:tr>
              <a:tr h="27551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URL</a:t>
                      </a:r>
                    </a:p>
                  </a:txBody>
                  <a:tcPr marL="7145" marR="7145" marT="714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Link to the product page on Myntra</a:t>
                      </a:r>
                    </a:p>
                  </a:txBody>
                  <a:tcPr marL="7145" marR="7145" marT="714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18655750"/>
                  </a:ext>
                </a:extLst>
              </a:tr>
              <a:tr h="30613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Product_id</a:t>
                      </a:r>
                    </a:p>
                  </a:txBody>
                  <a:tcPr marL="7145" marR="7145" marT="714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Unique identifier for each product</a:t>
                      </a:r>
                    </a:p>
                  </a:txBody>
                  <a:tcPr marL="7145" marR="7145" marT="714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82683125"/>
                  </a:ext>
                </a:extLst>
              </a:tr>
              <a:tr h="33674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BrandName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7145" marR="7145" marT="714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Name of the brand selling the product</a:t>
                      </a:r>
                    </a:p>
                  </a:txBody>
                  <a:tcPr marL="7145" marR="7145" marT="714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33746718"/>
                  </a:ext>
                </a:extLst>
              </a:tr>
              <a:tr h="32909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Category</a:t>
                      </a:r>
                    </a:p>
                  </a:txBody>
                  <a:tcPr marL="7145" marR="7145" marT="714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Broad product category (e.g., Apparel, Footwear)</a:t>
                      </a:r>
                    </a:p>
                  </a:txBody>
                  <a:tcPr marL="7145" marR="7145" marT="714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80255127"/>
                  </a:ext>
                </a:extLst>
              </a:tr>
              <a:tr h="505118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Individual_category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7145" marR="7145" marT="714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Specific product type within the category (e.g., T-Shirt, Kurta)</a:t>
                      </a:r>
                    </a:p>
                  </a:txBody>
                  <a:tcPr marL="7145" marR="7145" marT="714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19332212"/>
                  </a:ext>
                </a:extLst>
              </a:tr>
              <a:tr h="344398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category_by_Gender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7145" marR="7145" marT="714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Target gender segment (Men / Women / Unisex)</a:t>
                      </a:r>
                    </a:p>
                  </a:txBody>
                  <a:tcPr marL="7145" marR="7145" marT="714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66249376"/>
                  </a:ext>
                </a:extLst>
              </a:tr>
              <a:tr h="28317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Description</a:t>
                      </a:r>
                    </a:p>
                  </a:txBody>
                  <a:tcPr marL="7145" marR="7145" marT="714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Short text description of the product</a:t>
                      </a:r>
                    </a:p>
                  </a:txBody>
                  <a:tcPr marL="7145" marR="7145" marT="714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32742226"/>
                  </a:ext>
                </a:extLst>
              </a:tr>
              <a:tr h="41327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DiscountPrice (in Rs)</a:t>
                      </a:r>
                    </a:p>
                  </a:txBody>
                  <a:tcPr marL="7145" marR="7145" marT="714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Price after discount is applied (₹)</a:t>
                      </a:r>
                    </a:p>
                  </a:txBody>
                  <a:tcPr marL="7145" marR="7145" marT="714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46818256"/>
                  </a:ext>
                </a:extLst>
              </a:tr>
              <a:tr h="37501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OriginalPrice (in Rs)</a:t>
                      </a:r>
                    </a:p>
                  </a:txBody>
                  <a:tcPr marL="7145" marR="7145" marT="714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Actual listed price before discount (₹)</a:t>
                      </a:r>
                    </a:p>
                  </a:txBody>
                  <a:tcPr marL="7145" marR="7145" marT="714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6140753"/>
                  </a:ext>
                </a:extLst>
              </a:tr>
              <a:tr h="42858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Discount Offer</a:t>
                      </a:r>
                    </a:p>
                  </a:txBody>
                  <a:tcPr marL="7145" marR="7145" marT="714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Discount percentage offered on the product</a:t>
                      </a:r>
                    </a:p>
                  </a:txBody>
                  <a:tcPr marL="7145" marR="7145" marT="714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1329323"/>
                  </a:ext>
                </a:extLst>
              </a:tr>
              <a:tr h="22194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SizeOption</a:t>
                      </a:r>
                    </a:p>
                  </a:txBody>
                  <a:tcPr marL="7145" marR="7145" marT="714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Available sizes for the product</a:t>
                      </a:r>
                    </a:p>
                  </a:txBody>
                  <a:tcPr marL="7145" marR="7145" marT="714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54823699"/>
                  </a:ext>
                </a:extLst>
              </a:tr>
              <a:tr h="183678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Ratings</a:t>
                      </a:r>
                    </a:p>
                  </a:txBody>
                  <a:tcPr marL="7145" marR="7145" marT="714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Average customer rating</a:t>
                      </a:r>
                    </a:p>
                  </a:txBody>
                  <a:tcPr marL="7145" marR="7145" marT="714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31933019"/>
                  </a:ext>
                </a:extLst>
              </a:tr>
              <a:tr h="36735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Reviews</a:t>
                      </a:r>
                    </a:p>
                  </a:txBody>
                  <a:tcPr marL="7145" marR="7145" marT="714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Number of customer reviews received</a:t>
                      </a:r>
                    </a:p>
                  </a:txBody>
                  <a:tcPr marL="7145" marR="7145" marT="714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66847616"/>
                  </a:ext>
                </a:extLst>
              </a:tr>
            </a:tbl>
          </a:graphicData>
        </a:graphic>
      </p:graphicFrame>
      <p:sp>
        <p:nvSpPr>
          <p:cNvPr id="17" name="Rectangle 16">
            <a:extLst>
              <a:ext uri="{FF2B5EF4-FFF2-40B4-BE49-F238E27FC236}">
                <a16:creationId xmlns:a16="http://schemas.microsoft.com/office/drawing/2014/main" id="{18C6B863-45FB-DB05-6F83-29356BC263D0}"/>
              </a:ext>
            </a:extLst>
          </p:cNvPr>
          <p:cNvSpPr/>
          <p:nvPr/>
        </p:nvSpPr>
        <p:spPr>
          <a:xfrm>
            <a:off x="7908758" y="1864980"/>
            <a:ext cx="3526447" cy="2776689"/>
          </a:xfrm>
          <a:prstGeom prst="rect">
            <a:avLst/>
          </a:prstGeom>
          <a:solidFill>
            <a:schemeClr val="accent3"/>
          </a:solidFill>
          <a:ln>
            <a:noFill/>
          </a:ln>
          <a:effectLst>
            <a:outerShdw blurRad="508000" dist="228600" dir="2700000" sx="95000" sy="95000" algn="tl" rotWithShape="0">
              <a:prstClr val="black">
                <a:alpha val="2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36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questrial"/>
              <a:ea typeface="+mn-ea"/>
              <a:cs typeface="Poppins" panose="00000500000000000000" pitchFamily="2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4B2DFFF-17D2-70C7-D4F5-5AD4420D06AC}"/>
              </a:ext>
            </a:extLst>
          </p:cNvPr>
          <p:cNvSpPr txBox="1"/>
          <p:nvPr/>
        </p:nvSpPr>
        <p:spPr>
          <a:xfrm>
            <a:off x="8028450" y="2049445"/>
            <a:ext cx="3406756" cy="2268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sz="1600" b="1" dirty="0">
                <a:solidFill>
                  <a:schemeClr val="bg1"/>
                </a:solidFill>
              </a:rPr>
              <a:t>Why it matters:</a:t>
            </a:r>
          </a:p>
          <a:p>
            <a:pPr>
              <a:lnSpc>
                <a:spcPct val="150000"/>
              </a:lnSpc>
            </a:pPr>
            <a:r>
              <a:rPr lang="en-IN" sz="1600" dirty="0">
                <a:solidFill>
                  <a:schemeClr val="bg1"/>
                </a:solidFill>
              </a:rPr>
              <a:t>"This dataset contains apparel product information — pricing, discounts, ratings, and sizes — used as the foundation for every insight and recommendation in this analysis."</a:t>
            </a:r>
            <a:endParaRPr lang="en-IN" sz="1600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6EB551C-7DA2-F522-C8C2-859E4596089C}"/>
              </a:ext>
            </a:extLst>
          </p:cNvPr>
          <p:cNvSpPr txBox="1"/>
          <p:nvPr/>
        </p:nvSpPr>
        <p:spPr>
          <a:xfrm>
            <a:off x="571455" y="998133"/>
            <a:ext cx="5519058" cy="375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IN" sz="1400" b="1" dirty="0">
                <a:latin typeface="Segoe UI" panose="020B0502040204020203" pitchFamily="34" charset="0"/>
                <a:cs typeface="Segoe UI" panose="020B0502040204020203" pitchFamily="34" charset="0"/>
              </a:rPr>
              <a:t>Source: </a:t>
            </a:r>
            <a:r>
              <a:rPr lang="en-IN" sz="1400" dirty="0">
                <a:latin typeface="Segoe UI" panose="020B0502040204020203" pitchFamily="34" charset="0"/>
                <a:cs typeface="Segoe UI" panose="020B0502040204020203" pitchFamily="34" charset="0"/>
              </a:rPr>
              <a:t>Myntra Apparel Dataset | </a:t>
            </a:r>
            <a:r>
              <a:rPr lang="en-IN" sz="1400" b="1" dirty="0">
                <a:latin typeface="Segoe UI" panose="020B0502040204020203" pitchFamily="34" charset="0"/>
                <a:cs typeface="Segoe UI" panose="020B0502040204020203" pitchFamily="34" charset="0"/>
              </a:rPr>
              <a:t>Row: </a:t>
            </a:r>
            <a:r>
              <a:rPr lang="en-IN" sz="1400" dirty="0">
                <a:latin typeface="Segoe UI" panose="020B0502040204020203" pitchFamily="34" charset="0"/>
                <a:cs typeface="Segoe UI" panose="020B0502040204020203" pitchFamily="34" charset="0"/>
              </a:rPr>
              <a:t>1048575 | </a:t>
            </a:r>
            <a:r>
              <a:rPr lang="en-IN" sz="1400" b="1" dirty="0">
                <a:latin typeface="Segoe UI" panose="020B0502040204020203" pitchFamily="34" charset="0"/>
                <a:cs typeface="Segoe UI" panose="020B0502040204020203" pitchFamily="34" charset="0"/>
              </a:rPr>
              <a:t>Column: </a:t>
            </a:r>
            <a:r>
              <a:rPr lang="en-IN" sz="1400" dirty="0">
                <a:latin typeface="Segoe UI" panose="020B0502040204020203" pitchFamily="34" charset="0"/>
                <a:cs typeface="Segoe UI" panose="020B0502040204020203" pitchFamily="34" charset="0"/>
              </a:rPr>
              <a:t>13</a:t>
            </a:r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A980A68C-2EB9-D826-8AB1-DB6B492509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31828" y="414151"/>
            <a:ext cx="2301439" cy="746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95776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6C0A6108-FADE-81A3-79B3-9FBDD80D483F}"/>
              </a:ext>
            </a:extLst>
          </p:cNvPr>
          <p:cNvSpPr/>
          <p:nvPr/>
        </p:nvSpPr>
        <p:spPr>
          <a:xfrm>
            <a:off x="5974728" y="1466552"/>
            <a:ext cx="4795971" cy="1754287"/>
          </a:xfrm>
          <a:prstGeom prst="roundRect">
            <a:avLst/>
          </a:prstGeom>
          <a:solidFill>
            <a:schemeClr val="accent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CEEA7409-DA10-BD29-433D-0AF85EC4EC3C}"/>
              </a:ext>
            </a:extLst>
          </p:cNvPr>
          <p:cNvSpPr/>
          <p:nvPr/>
        </p:nvSpPr>
        <p:spPr>
          <a:xfrm>
            <a:off x="722816" y="3643115"/>
            <a:ext cx="4789172" cy="1847843"/>
          </a:xfrm>
          <a:prstGeom prst="roundRect">
            <a:avLst/>
          </a:prstGeom>
          <a:solidFill>
            <a:schemeClr val="accent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66AF6800-A1DA-5BF9-3571-FE06860E0725}"/>
              </a:ext>
            </a:extLst>
          </p:cNvPr>
          <p:cNvSpPr/>
          <p:nvPr/>
        </p:nvSpPr>
        <p:spPr>
          <a:xfrm>
            <a:off x="5972676" y="3643115"/>
            <a:ext cx="4795971" cy="174833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404C15B3-C132-386D-6A6B-76B53FC3E7C3}"/>
              </a:ext>
            </a:extLst>
          </p:cNvPr>
          <p:cNvSpPr/>
          <p:nvPr/>
        </p:nvSpPr>
        <p:spPr>
          <a:xfrm>
            <a:off x="722816" y="1389526"/>
            <a:ext cx="4795971" cy="175428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1FA0A51-EEE8-7447-EDF9-2C7AD3C729A6}"/>
              </a:ext>
            </a:extLst>
          </p:cNvPr>
          <p:cNvSpPr txBox="1"/>
          <p:nvPr/>
        </p:nvSpPr>
        <p:spPr>
          <a:xfrm>
            <a:off x="569351" y="385004"/>
            <a:ext cx="5219425" cy="59093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id-ID"/>
            </a:defPPr>
            <a:lvl1pPr>
              <a:lnSpc>
                <a:spcPct val="90000"/>
              </a:lnSpc>
              <a:defRPr sz="5400">
                <a:latin typeface="+mj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3600" b="1" dirty="0">
                <a:solidFill>
                  <a:srgbClr val="0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Data Cleaning Process</a:t>
            </a:r>
            <a:endParaRPr kumimoji="0" lang="id-ID" sz="3600" b="1" i="0" u="none" strike="noStrike" kern="1200" cap="none" spc="0" normalizeH="0" baseline="0" noProof="0" dirty="0">
              <a:ln>
                <a:noFill/>
              </a:ln>
              <a:solidFill>
                <a:srgbClr val="014D6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33B2389-EA71-BB12-68D9-5B26DED2EAA4}"/>
              </a:ext>
            </a:extLst>
          </p:cNvPr>
          <p:cNvSpPr txBox="1"/>
          <p:nvPr/>
        </p:nvSpPr>
        <p:spPr>
          <a:xfrm>
            <a:off x="1398105" y="1581349"/>
            <a:ext cx="4113882" cy="11448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50000"/>
              </a:lnSpc>
              <a:spcBef>
                <a:spcPts val="600"/>
              </a:spcBef>
            </a:pPr>
            <a:r>
              <a:rPr lang="en-GB" sz="1600" b="1" dirty="0">
                <a:latin typeface="Segoe UI" panose="020B0502040204020203" pitchFamily="34" charset="0"/>
                <a:cs typeface="Segoe UI" panose="020B0502040204020203" pitchFamily="34" charset="0"/>
              </a:rPr>
              <a:t>Removed Duplicates:</a:t>
            </a:r>
          </a:p>
          <a:p>
            <a:pPr lvl="0">
              <a:lnSpc>
                <a:spcPct val="150000"/>
              </a:lnSpc>
              <a:spcBef>
                <a:spcPts val="600"/>
              </a:spcBef>
            </a:pPr>
            <a:r>
              <a:rPr lang="en-GB" sz="1400" dirty="0">
                <a:latin typeface="Segoe UI" panose="020B0502040204020203" pitchFamily="34" charset="0"/>
                <a:cs typeface="Segoe UI" panose="020B0502040204020203" pitchFamily="34" charset="0"/>
              </a:rPr>
              <a:t>Identified and removed duplicate product records to ensure accurate counts</a:t>
            </a:r>
            <a:r>
              <a:rPr lang="en-GB" sz="14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  <a:endParaRPr kumimoji="0" lang="id-ID" sz="14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CD4560B-649D-A9DA-B33A-8AAE5B7C4729}"/>
              </a:ext>
            </a:extLst>
          </p:cNvPr>
          <p:cNvSpPr/>
          <p:nvPr/>
        </p:nvSpPr>
        <p:spPr>
          <a:xfrm rot="16200000" flipH="1">
            <a:off x="138095" y="-633040"/>
            <a:ext cx="597240" cy="2633329"/>
          </a:xfrm>
          <a:prstGeom prst="rect">
            <a:avLst/>
          </a:prstGeom>
          <a:gradFill flip="none" rotWithShape="1">
            <a:gsLst>
              <a:gs pos="42000">
                <a:schemeClr val="accent1">
                  <a:lumMod val="75000"/>
                  <a:alpha val="35000"/>
                </a:schemeClr>
              </a:gs>
              <a:gs pos="0">
                <a:schemeClr val="accent1"/>
              </a:gs>
              <a:gs pos="89000">
                <a:schemeClr val="accent1">
                  <a:lumMod val="75000"/>
                  <a:alpha val="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anrope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DBDCFC3-0A24-06FB-CCE1-A12F31378220}"/>
              </a:ext>
            </a:extLst>
          </p:cNvPr>
          <p:cNvSpPr txBox="1"/>
          <p:nvPr/>
        </p:nvSpPr>
        <p:spPr>
          <a:xfrm>
            <a:off x="6586364" y="1518442"/>
            <a:ext cx="4149173" cy="12217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50000"/>
              </a:lnSpc>
              <a:spcBef>
                <a:spcPts val="600"/>
              </a:spcBef>
            </a:pPr>
            <a:r>
              <a:rPr lang="en-GB" sz="16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Standardised Discount Offer:</a:t>
            </a:r>
          </a:p>
          <a:p>
            <a:pPr lvl="0">
              <a:lnSpc>
                <a:spcPct val="150000"/>
              </a:lnSpc>
              <a:spcBef>
                <a:spcPts val="600"/>
              </a:spcBef>
            </a:pPr>
            <a:r>
              <a:rPr lang="en-GB" sz="14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“RS 400 “ OFF &gt;&gt; unified to “40 % OFF”.</a:t>
            </a:r>
          </a:p>
          <a:p>
            <a:pPr lvl="0">
              <a:lnSpc>
                <a:spcPct val="150000"/>
              </a:lnSpc>
              <a:spcBef>
                <a:spcPts val="600"/>
              </a:spcBef>
            </a:pPr>
            <a:r>
              <a:rPr lang="en-GB" sz="1400" b="1" dirty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=ROUND((I2-H2)/I2*100,0)&amp;"% OFF"</a:t>
            </a: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9ADE0E48-4A5A-4931-3F45-307230A37C29}"/>
              </a:ext>
            </a:extLst>
          </p:cNvPr>
          <p:cNvSpPr/>
          <p:nvPr/>
        </p:nvSpPr>
        <p:spPr>
          <a:xfrm>
            <a:off x="5991124" y="1660930"/>
            <a:ext cx="402447" cy="36541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2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28CAAEB-6B4D-6226-4F8D-624C879EAC7B}"/>
              </a:ext>
            </a:extLst>
          </p:cNvPr>
          <p:cNvSpPr/>
          <p:nvPr/>
        </p:nvSpPr>
        <p:spPr>
          <a:xfrm>
            <a:off x="791292" y="1843637"/>
            <a:ext cx="422031" cy="369807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CE116EE-66D5-60FF-3ADA-F819AB52456F}"/>
              </a:ext>
            </a:extLst>
          </p:cNvPr>
          <p:cNvSpPr txBox="1"/>
          <p:nvPr/>
        </p:nvSpPr>
        <p:spPr>
          <a:xfrm>
            <a:off x="6654765" y="3791026"/>
            <a:ext cx="4113882" cy="11448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50000"/>
              </a:lnSpc>
              <a:spcBef>
                <a:spcPts val="600"/>
              </a:spcBef>
            </a:pPr>
            <a:r>
              <a:rPr lang="en-GB" sz="1600" b="1" dirty="0">
                <a:latin typeface="Segoe UI" panose="020B0502040204020203" pitchFamily="34" charset="0"/>
                <a:cs typeface="Segoe UI" panose="020B0502040204020203" pitchFamily="34" charset="0"/>
              </a:rPr>
              <a:t>Replaced Missing Size Option:</a:t>
            </a:r>
          </a:p>
          <a:p>
            <a:pPr lvl="0">
              <a:lnSpc>
                <a:spcPct val="150000"/>
              </a:lnSpc>
              <a:spcBef>
                <a:spcPts val="600"/>
              </a:spcBef>
            </a:pPr>
            <a:r>
              <a:rPr lang="en-GB" sz="1400" dirty="0">
                <a:latin typeface="Segoe UI" panose="020B0502040204020203" pitchFamily="34" charset="0"/>
                <a:cs typeface="Segoe UI" panose="020B0502040204020203" pitchFamily="34" charset="0"/>
              </a:rPr>
              <a:t>Blank/ NULL values &gt;&gt; replace with “Not Available”.</a:t>
            </a:r>
            <a:endParaRPr kumimoji="0" lang="id-ID" sz="14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B462B8D-241E-421F-AD03-7B609A91D70E}"/>
              </a:ext>
            </a:extLst>
          </p:cNvPr>
          <p:cNvSpPr/>
          <p:nvPr/>
        </p:nvSpPr>
        <p:spPr>
          <a:xfrm>
            <a:off x="6096000" y="4051267"/>
            <a:ext cx="422031" cy="369807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4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A03DACF-C0D9-97E6-4825-73AE3CA7AE2E}"/>
              </a:ext>
            </a:extLst>
          </p:cNvPr>
          <p:cNvSpPr txBox="1"/>
          <p:nvPr/>
        </p:nvSpPr>
        <p:spPr>
          <a:xfrm>
            <a:off x="1219962" y="3622883"/>
            <a:ext cx="4307328" cy="15044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50000"/>
              </a:lnSpc>
              <a:spcBef>
                <a:spcPts val="600"/>
              </a:spcBef>
            </a:pPr>
            <a:r>
              <a:rPr lang="en-GB" sz="16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Filled Missing Discount Price:</a:t>
            </a:r>
          </a:p>
          <a:p>
            <a:pPr lvl="0">
              <a:lnSpc>
                <a:spcPct val="150000"/>
              </a:lnSpc>
              <a:spcBef>
                <a:spcPts val="600"/>
              </a:spcBef>
            </a:pPr>
            <a:r>
              <a:rPr lang="en-GB" sz="14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Used the average discount price of the respective category (AVERAGEIF).</a:t>
            </a:r>
          </a:p>
          <a:p>
            <a:pPr lvl="0">
              <a:lnSpc>
                <a:spcPct val="150000"/>
              </a:lnSpc>
              <a:spcBef>
                <a:spcPts val="600"/>
              </a:spcBef>
            </a:pPr>
            <a:r>
              <a:rPr lang="pt-BR" sz="1200" b="1" dirty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=IF(AND(H2="",J2=""),AVERAGEIF($D:$D,D2,$H:$H),H2)</a:t>
            </a:r>
            <a:endParaRPr kumimoji="0" lang="en-GB" sz="1200" b="1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1F8E0C22-466D-B6BD-4447-A9128A874683}"/>
              </a:ext>
            </a:extLst>
          </p:cNvPr>
          <p:cNvSpPr/>
          <p:nvPr/>
        </p:nvSpPr>
        <p:spPr>
          <a:xfrm>
            <a:off x="731319" y="3793295"/>
            <a:ext cx="480139" cy="4428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3</a:t>
            </a:r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990DC5F0-6673-4605-126B-3F6CD1383B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93250" y="271086"/>
            <a:ext cx="2301439" cy="746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44369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: Folded Corner 22">
            <a:extLst>
              <a:ext uri="{FF2B5EF4-FFF2-40B4-BE49-F238E27FC236}">
                <a16:creationId xmlns:a16="http://schemas.microsoft.com/office/drawing/2014/main" id="{BA2E55F7-054E-95F6-B411-29C72745105B}"/>
              </a:ext>
            </a:extLst>
          </p:cNvPr>
          <p:cNvSpPr/>
          <p:nvPr/>
        </p:nvSpPr>
        <p:spPr>
          <a:xfrm>
            <a:off x="7027817" y="2101457"/>
            <a:ext cx="5094514" cy="3141103"/>
          </a:xfrm>
          <a:prstGeom prst="foldedCorne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5DD3A69-3BFF-7282-9F82-D2C83A16A63A}"/>
              </a:ext>
            </a:extLst>
          </p:cNvPr>
          <p:cNvSpPr txBox="1"/>
          <p:nvPr/>
        </p:nvSpPr>
        <p:spPr>
          <a:xfrm>
            <a:off x="528043" y="383972"/>
            <a:ext cx="522645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="1" dirty="0">
                <a:solidFill>
                  <a:srgbClr val="0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Excel Functions Used</a:t>
            </a:r>
            <a:endParaRPr kumimoji="0" lang="id-ID" sz="3600" b="1" i="0" u="none" strike="noStrike" kern="1200" cap="none" spc="0" normalizeH="0" baseline="0" noProof="0" dirty="0">
              <a:ln>
                <a:noFill/>
              </a:ln>
              <a:solidFill>
                <a:srgbClr val="014D6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8D28456-5AB3-1D9C-61EE-D8EF77DAE26E}"/>
              </a:ext>
            </a:extLst>
          </p:cNvPr>
          <p:cNvSpPr/>
          <p:nvPr/>
        </p:nvSpPr>
        <p:spPr>
          <a:xfrm rot="16200000" flipH="1">
            <a:off x="498817" y="-628274"/>
            <a:ext cx="512064" cy="2650603"/>
          </a:xfrm>
          <a:prstGeom prst="rect">
            <a:avLst/>
          </a:prstGeom>
          <a:gradFill flip="none" rotWithShape="1">
            <a:gsLst>
              <a:gs pos="42000">
                <a:schemeClr val="accent1">
                  <a:lumMod val="75000"/>
                  <a:alpha val="35000"/>
                </a:schemeClr>
              </a:gs>
              <a:gs pos="0">
                <a:schemeClr val="accent1"/>
              </a:gs>
              <a:gs pos="89000">
                <a:schemeClr val="accent1">
                  <a:lumMod val="75000"/>
                  <a:alpha val="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anrope"/>
              <a:ea typeface="+mn-ea"/>
              <a:cs typeface="+mn-cs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9F664656-0556-12D9-92A5-F5AEEBBE646D}"/>
              </a:ext>
            </a:extLst>
          </p:cNvPr>
          <p:cNvSpPr/>
          <p:nvPr/>
        </p:nvSpPr>
        <p:spPr>
          <a:xfrm rot="16200000">
            <a:off x="11172190" y="-597620"/>
            <a:ext cx="515620" cy="1710860"/>
          </a:xfrm>
          <a:prstGeom prst="rect">
            <a:avLst/>
          </a:prstGeom>
          <a:gradFill flip="none" rotWithShape="1">
            <a:gsLst>
              <a:gs pos="42000">
                <a:schemeClr val="accent1">
                  <a:lumMod val="75000"/>
                  <a:alpha val="35000"/>
                </a:schemeClr>
              </a:gs>
              <a:gs pos="0">
                <a:schemeClr val="accent1"/>
              </a:gs>
              <a:gs pos="89000">
                <a:schemeClr val="accent1">
                  <a:lumMod val="75000"/>
                  <a:alpha val="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anrope"/>
              <a:ea typeface="+mn-ea"/>
              <a:cs typeface="+mn-cs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654A73A-8C92-255C-BC86-4BDE111F18A1}"/>
              </a:ext>
            </a:extLst>
          </p:cNvPr>
          <p:cNvSpPr txBox="1"/>
          <p:nvPr/>
        </p:nvSpPr>
        <p:spPr>
          <a:xfrm>
            <a:off x="7352983" y="2231141"/>
            <a:ext cx="4769348" cy="2262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sz="1600" b="1" dirty="0">
                <a:latin typeface="Segoe UI" panose="020B0502040204020203" pitchFamily="34" charset="0"/>
                <a:cs typeface="Segoe UI" panose="020B0502040204020203" pitchFamily="34" charset="0"/>
              </a:rPr>
              <a:t>QUICK REFERENCE (FORMULAS):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1600" dirty="0">
                <a:latin typeface="Segoe UI" panose="020B0502040204020203" pitchFamily="34" charset="0"/>
                <a:cs typeface="Segoe UI" panose="020B0502040204020203" pitchFamily="34" charset="0"/>
              </a:rPr>
              <a:t>=IF(</a:t>
            </a:r>
            <a:r>
              <a:rPr lang="en-IN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DiscountOffer</a:t>
            </a:r>
            <a:r>
              <a:rPr lang="en-IN" sz="1600" dirty="0">
                <a:latin typeface="Segoe UI" panose="020B0502040204020203" pitchFamily="34" charset="0"/>
                <a:cs typeface="Segoe UI" panose="020B0502040204020203" pitchFamily="34" charset="0"/>
              </a:rPr>
              <a:t>&gt;50,"High </a:t>
            </a:r>
            <a:r>
              <a:rPr lang="en-IN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Discount","Low</a:t>
            </a:r>
            <a:r>
              <a:rPr lang="en-IN" sz="1600" dirty="0">
                <a:latin typeface="Segoe UI" panose="020B0502040204020203" pitchFamily="34" charset="0"/>
                <a:cs typeface="Segoe UI" panose="020B0502040204020203" pitchFamily="34" charset="0"/>
              </a:rPr>
              <a:t> Discount")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1600" dirty="0">
                <a:latin typeface="Segoe UI" panose="020B0502040204020203" pitchFamily="34" charset="0"/>
                <a:cs typeface="Segoe UI" panose="020B0502040204020203" pitchFamily="34" charset="0"/>
              </a:rPr>
              <a:t>=AVERAGEIF(Category,A2,DiscountPrice)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1600" dirty="0">
                <a:latin typeface="Segoe UI" panose="020B0502040204020203" pitchFamily="34" charset="0"/>
                <a:cs typeface="Segoe UI" panose="020B0502040204020203" pitchFamily="34" charset="0"/>
              </a:rPr>
              <a:t>=XLOOKUP(</a:t>
            </a:r>
            <a:r>
              <a:rPr lang="en-IN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ProductID,ID_Range,Return_Range</a:t>
            </a:r>
            <a:r>
              <a:rPr lang="en-IN" sz="1600" dirty="0">
                <a:latin typeface="Segoe UI" panose="020B0502040204020203" pitchFamily="34" charset="0"/>
                <a:cs typeface="Segoe UI" panose="020B0502040204020203" pitchFamily="34" charset="0"/>
              </a:rPr>
              <a:t>)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1600" dirty="0">
                <a:latin typeface="Segoe UI" panose="020B0502040204020203" pitchFamily="34" charset="0"/>
                <a:cs typeface="Segoe UI" panose="020B0502040204020203" pitchFamily="34" charset="0"/>
              </a:rPr>
              <a:t>=INDEX(</a:t>
            </a:r>
            <a:r>
              <a:rPr lang="en-IN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Range,MATCH</a:t>
            </a:r>
            <a:r>
              <a:rPr lang="en-IN" sz="1600" dirty="0">
                <a:latin typeface="Segoe UI" panose="020B0502040204020203" pitchFamily="34" charset="0"/>
                <a:cs typeface="Segoe UI" panose="020B0502040204020203" pitchFamily="34" charset="0"/>
              </a:rPr>
              <a:t>(ID,ID_Range,0))</a:t>
            </a:r>
          </a:p>
        </p:txBody>
      </p:sp>
      <p:graphicFrame>
        <p:nvGraphicFramePr>
          <p:cNvPr id="22" name="Table 21">
            <a:extLst>
              <a:ext uri="{FF2B5EF4-FFF2-40B4-BE49-F238E27FC236}">
                <a16:creationId xmlns:a16="http://schemas.microsoft.com/office/drawing/2014/main" id="{406D15ED-E74D-BE99-26CF-01C5E1A1B1C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2827888"/>
              </p:ext>
            </p:extLst>
          </p:nvPr>
        </p:nvGraphicFramePr>
        <p:xfrm>
          <a:off x="528043" y="1354531"/>
          <a:ext cx="5923037" cy="4915267"/>
        </p:xfrm>
        <a:graphic>
          <a:graphicData uri="http://schemas.openxmlformats.org/drawingml/2006/table">
            <a:tbl>
              <a:tblPr/>
              <a:tblGrid>
                <a:gridCol w="1248506">
                  <a:extLst>
                    <a:ext uri="{9D8B030D-6E8A-4147-A177-3AD203B41FA5}">
                      <a16:colId xmlns:a16="http://schemas.microsoft.com/office/drawing/2014/main" val="1226417755"/>
                    </a:ext>
                  </a:extLst>
                </a:gridCol>
                <a:gridCol w="4674531">
                  <a:extLst>
                    <a:ext uri="{9D8B030D-6E8A-4147-A177-3AD203B41FA5}">
                      <a16:colId xmlns:a16="http://schemas.microsoft.com/office/drawing/2014/main" val="1598637741"/>
                    </a:ext>
                  </a:extLst>
                </a:gridCol>
              </a:tblGrid>
              <a:tr h="26789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Excel Function</a:t>
                      </a:r>
                    </a:p>
                  </a:txBody>
                  <a:tcPr marL="6514" marR="6514" marT="651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80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Purpose in the Myntra Case Study</a:t>
                      </a:r>
                    </a:p>
                  </a:txBody>
                  <a:tcPr marL="6514" marR="6514" marT="651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3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7363716"/>
                  </a:ext>
                </a:extLst>
              </a:tr>
              <a:tr h="40183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Remove Duplicates</a:t>
                      </a:r>
                    </a:p>
                  </a:txBody>
                  <a:tcPr marL="6514" marR="6514" marT="651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Checked the dataset for duplicate records and removed duplicate entries.</a:t>
                      </a:r>
                    </a:p>
                  </a:txBody>
                  <a:tcPr marL="6514" marR="6514" marT="651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8614696"/>
                  </a:ext>
                </a:extLst>
              </a:tr>
              <a:tr h="43003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IF</a:t>
                      </a:r>
                    </a:p>
                  </a:txBody>
                  <a:tcPr marL="6514" marR="6514" marT="651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Classified products as High Discount (&gt;50% OFF) or Low Discount (≤50% OFF).</a:t>
                      </a:r>
                    </a:p>
                  </a:txBody>
                  <a:tcPr marL="6514" marR="6514" marT="651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9913763"/>
                  </a:ext>
                </a:extLst>
              </a:tr>
              <a:tr h="37363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AVERAGEIF</a:t>
                      </a:r>
                    </a:p>
                  </a:txBody>
                  <a:tcPr marL="6514" marR="6514" marT="651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Filled missing </a:t>
                      </a:r>
                      <a:r>
                        <a:rPr lang="en-IN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DiscountPrice</a:t>
                      </a:r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 values with the average discount price of the respective category.</a:t>
                      </a:r>
                    </a:p>
                  </a:txBody>
                  <a:tcPr marL="6514" marR="6514" marT="651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88117976"/>
                  </a:ext>
                </a:extLst>
              </a:tr>
              <a:tr h="33133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COUNTIF</a:t>
                      </a:r>
                    </a:p>
                  </a:txBody>
                  <a:tcPr marL="6514" marR="6514" marT="651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Counted the number of products available in size "M".</a:t>
                      </a:r>
                    </a:p>
                  </a:txBody>
                  <a:tcPr marL="6514" marR="6514" marT="651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78902708"/>
                  </a:ext>
                </a:extLst>
              </a:tr>
              <a:tr h="317238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AVERAGEIF</a:t>
                      </a:r>
                    </a:p>
                  </a:txBody>
                  <a:tcPr marL="6514" marR="6514" marT="651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Calculated the average Original Price for products with ratings greater than 4.</a:t>
                      </a:r>
                    </a:p>
                  </a:txBody>
                  <a:tcPr marL="6514" marR="6514" marT="651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6632596"/>
                  </a:ext>
                </a:extLst>
              </a:tr>
              <a:tr h="46528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COUNTIF / COUNTIFS</a:t>
                      </a:r>
                    </a:p>
                  </a:txBody>
                  <a:tcPr marL="6514" marR="6514" marT="651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Counted products with </a:t>
                      </a:r>
                      <a:r>
                        <a:rPr lang="en-IN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DiscountOffer</a:t>
                      </a:r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 greater than 50% OFF.</a:t>
                      </a:r>
                    </a:p>
                  </a:txBody>
                  <a:tcPr marL="6514" marR="6514" marT="651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62456019"/>
                  </a:ext>
                </a:extLst>
              </a:tr>
              <a:tr h="324288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VLOOKUP</a:t>
                      </a:r>
                    </a:p>
                  </a:txBody>
                  <a:tcPr marL="6514" marR="6514" marT="651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Retrieved the Brand Name, Discount Price, and Ratings using the Product ID.</a:t>
                      </a:r>
                    </a:p>
                  </a:txBody>
                  <a:tcPr marL="6514" marR="6514" marT="651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66382850"/>
                  </a:ext>
                </a:extLst>
              </a:tr>
              <a:tr h="34543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XLOOKUP</a:t>
                      </a:r>
                    </a:p>
                  </a:txBody>
                  <a:tcPr marL="6514" marR="6514" marT="651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Retrieved product details dynamically using Product ID.</a:t>
                      </a:r>
                    </a:p>
                  </a:txBody>
                  <a:tcPr marL="6514" marR="6514" marT="651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63355497"/>
                  </a:ext>
                </a:extLst>
              </a:tr>
              <a:tr h="324288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Nested XLOOKUP</a:t>
                      </a:r>
                    </a:p>
                  </a:txBody>
                  <a:tcPr marL="6514" marR="6514" marT="651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Retrieved any column's information (Brand, Price, Rating, etc.) by combining Product ID and column name.</a:t>
                      </a:r>
                    </a:p>
                  </a:txBody>
                  <a:tcPr marL="6514" marR="6514" marT="651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5670611"/>
                  </a:ext>
                </a:extLst>
              </a:tr>
              <a:tr h="41593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INDEX + MATCH</a:t>
                      </a:r>
                    </a:p>
                  </a:txBody>
                  <a:tcPr marL="6514" marR="6514" marT="651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Retrieved the </a:t>
                      </a:r>
                      <a:r>
                        <a:rPr lang="en-IN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DiscountPrice</a:t>
                      </a:r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 for Product ID 6744434.</a:t>
                      </a:r>
                    </a:p>
                  </a:txBody>
                  <a:tcPr marL="6514" marR="6514" marT="651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44624450"/>
                  </a:ext>
                </a:extLst>
              </a:tr>
              <a:tr h="317238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ROUND</a:t>
                      </a:r>
                    </a:p>
                  </a:txBody>
                  <a:tcPr marL="6514" marR="6514" marT="651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Rounded calculated discount percentages to the nearest whole number.</a:t>
                      </a:r>
                    </a:p>
                  </a:txBody>
                  <a:tcPr marL="6514" marR="6514" marT="651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587134"/>
                  </a:ext>
                </a:extLst>
              </a:tr>
              <a:tr h="39478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ABS</a:t>
                      </a:r>
                    </a:p>
                  </a:txBody>
                  <a:tcPr marL="6514" marR="6514" marT="651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Converted negative discount percentages into positive values where required.</a:t>
                      </a:r>
                    </a:p>
                  </a:txBody>
                  <a:tcPr marL="6514" marR="6514" marT="651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20174073"/>
                  </a:ext>
                </a:extLst>
              </a:tr>
            </a:tbl>
          </a:graphicData>
        </a:graphic>
      </p:graphicFrame>
      <p:pic>
        <p:nvPicPr>
          <p:cNvPr id="25" name="Picture 24">
            <a:extLst>
              <a:ext uri="{FF2B5EF4-FFF2-40B4-BE49-F238E27FC236}">
                <a16:creationId xmlns:a16="http://schemas.microsoft.com/office/drawing/2014/main" id="{9E383461-DA81-EF38-8D76-F9E30A3EAD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93250" y="271086"/>
            <a:ext cx="2301439" cy="746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52615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extBox 28">
            <a:extLst>
              <a:ext uri="{FF2B5EF4-FFF2-40B4-BE49-F238E27FC236}">
                <a16:creationId xmlns:a16="http://schemas.microsoft.com/office/drawing/2014/main" id="{AF9B64E2-7BB6-6460-2810-809800B96F93}"/>
              </a:ext>
            </a:extLst>
          </p:cNvPr>
          <p:cNvSpPr txBox="1"/>
          <p:nvPr/>
        </p:nvSpPr>
        <p:spPr>
          <a:xfrm>
            <a:off x="732781" y="299127"/>
            <a:ext cx="5854513" cy="5909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Analysis Result :</a:t>
            </a:r>
            <a:endParaRPr kumimoji="0" lang="id-ID" sz="36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7E168FC-EAC7-17FF-3476-80A6FF6EC1BC}"/>
              </a:ext>
            </a:extLst>
          </p:cNvPr>
          <p:cNvSpPr txBox="1"/>
          <p:nvPr/>
        </p:nvSpPr>
        <p:spPr>
          <a:xfrm>
            <a:off x="1555458" y="1291189"/>
            <a:ext cx="4209158" cy="66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US" sz="1600" b="1" dirty="0">
                <a:latin typeface="Segoe UI" panose="020B0502040204020203" pitchFamily="34" charset="0"/>
                <a:cs typeface="Segoe UI" panose="020B0502040204020203" pitchFamily="34" charset="0"/>
              </a:rPr>
              <a:t>Avg. Original Price (Rating &gt; 4):</a:t>
            </a:r>
          </a:p>
          <a:p>
            <a:pPr>
              <a:spcBef>
                <a:spcPts val="600"/>
              </a:spcBef>
            </a:pPr>
            <a:r>
              <a:rPr lang="en-IN" sz="1600" dirty="0">
                <a:latin typeface="Segoe UI" panose="020B0502040204020203" pitchFamily="34" charset="0"/>
                <a:cs typeface="Segoe UI" panose="020B0502040204020203" pitchFamily="34" charset="0"/>
              </a:rPr>
              <a:t>=AVERAGEIF(Ratings,"&gt;4",OriginalPrice)</a:t>
            </a:r>
            <a:endParaRPr lang="en-US" sz="1600"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1F4E2414-6068-3CF5-4AE6-48B278ADFF2A}"/>
              </a:ext>
            </a:extLst>
          </p:cNvPr>
          <p:cNvSpPr/>
          <p:nvPr/>
        </p:nvSpPr>
        <p:spPr>
          <a:xfrm rot="16200000" flipH="1">
            <a:off x="161500" y="-298492"/>
            <a:ext cx="515620" cy="1710860"/>
          </a:xfrm>
          <a:prstGeom prst="rect">
            <a:avLst/>
          </a:prstGeom>
          <a:gradFill flip="none" rotWithShape="1">
            <a:gsLst>
              <a:gs pos="42000">
                <a:schemeClr val="accent1">
                  <a:lumMod val="75000"/>
                  <a:alpha val="35000"/>
                </a:schemeClr>
              </a:gs>
              <a:gs pos="0">
                <a:schemeClr val="accent1"/>
              </a:gs>
              <a:gs pos="89000">
                <a:schemeClr val="accent1">
                  <a:lumMod val="75000"/>
                  <a:alpha val="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anrope"/>
              <a:ea typeface="+mn-ea"/>
              <a:cs typeface="+mn-cs"/>
            </a:endParaRPr>
          </a:p>
        </p:txBody>
      </p:sp>
      <p:pic>
        <p:nvPicPr>
          <p:cNvPr id="43" name="Picture Placeholder 42">
            <a:extLst>
              <a:ext uri="{FF2B5EF4-FFF2-40B4-BE49-F238E27FC236}">
                <a16:creationId xmlns:a16="http://schemas.microsoft.com/office/drawing/2014/main" id="{F0D0E447-0E19-583E-FE88-1CAEC5BB0974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06" r="6406"/>
          <a:stretch>
            <a:fillRect/>
          </a:stretch>
        </p:blipFill>
        <p:spPr>
          <a:xfrm>
            <a:off x="8813074" y="1043828"/>
            <a:ext cx="3378926" cy="5814172"/>
          </a:xfrm>
          <a:custGeom>
            <a:avLst/>
            <a:gdLst>
              <a:gd name="csX0" fmla="*/ 0 w 2849879"/>
              <a:gd name="csY0" fmla="*/ 0 h 5257799"/>
              <a:gd name="csX1" fmla="*/ 2849879 w 2849879"/>
              <a:gd name="csY1" fmla="*/ 0 h 5257799"/>
              <a:gd name="csX2" fmla="*/ 2849879 w 2849879"/>
              <a:gd name="csY2" fmla="*/ 5257799 h 5257799"/>
              <a:gd name="csX3" fmla="*/ 0 w 2849879"/>
              <a:gd name="csY3" fmla="*/ 5257799 h 525779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2849879" h="5257799">
                <a:moveTo>
                  <a:pt x="0" y="0"/>
                </a:moveTo>
                <a:lnTo>
                  <a:pt x="2849879" y="0"/>
                </a:lnTo>
                <a:lnTo>
                  <a:pt x="2849879" y="5257799"/>
                </a:lnTo>
                <a:lnTo>
                  <a:pt x="0" y="5257799"/>
                </a:lnTo>
                <a:close/>
              </a:path>
            </a:pathLst>
          </a:custGeom>
          <a:solidFill>
            <a:srgbClr val="E7E6E6">
              <a:lumMod val="50000"/>
              <a:alpha val="50000"/>
            </a:srgbClr>
          </a:solidFill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3E9594F6-3A4D-0D34-8351-DB8AD7E009B9}"/>
              </a:ext>
            </a:extLst>
          </p:cNvPr>
          <p:cNvSpPr txBox="1"/>
          <p:nvPr/>
        </p:nvSpPr>
        <p:spPr>
          <a:xfrm>
            <a:off x="3660036" y="2327265"/>
            <a:ext cx="4717609" cy="9079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GB" sz="1600" b="1" dirty="0">
                <a:latin typeface="Segoe UI" panose="020B0502040204020203" pitchFamily="34" charset="0"/>
                <a:cs typeface="Segoe UI" panose="020B0502040204020203" pitchFamily="34" charset="0"/>
              </a:rPr>
              <a:t>Products with &gt;50% OFF:</a:t>
            </a:r>
          </a:p>
          <a:p>
            <a:pPr>
              <a:spcBef>
                <a:spcPts val="600"/>
              </a:spcBef>
            </a:pP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=COUNTIF(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DiscountOffer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,"&gt;50%") (or COUNTIFS if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DiscountOffer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is text like "60% OFF")</a:t>
            </a:r>
            <a:r>
              <a:rPr lang="en-GB" sz="1600" dirty="0"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D7FCCB5-610F-6B5E-5B23-DF7493F14E7B}"/>
              </a:ext>
            </a:extLst>
          </p:cNvPr>
          <p:cNvSpPr txBox="1"/>
          <p:nvPr/>
        </p:nvSpPr>
        <p:spPr>
          <a:xfrm>
            <a:off x="1555458" y="3825249"/>
            <a:ext cx="4209158" cy="66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US" sz="1600" b="1" dirty="0">
                <a:latin typeface="Segoe UI" panose="020B0502040204020203" pitchFamily="34" charset="0"/>
                <a:cs typeface="Segoe UI" panose="020B0502040204020203" pitchFamily="34" charset="0"/>
              </a:rPr>
              <a:t>Products Available in Size ‘M’:</a:t>
            </a:r>
          </a:p>
          <a:p>
            <a:pPr>
              <a:spcBef>
                <a:spcPts val="600"/>
              </a:spcBef>
            </a:pPr>
            <a:r>
              <a:rPr lang="en-IN" sz="1600" dirty="0">
                <a:latin typeface="Segoe UI" panose="020B0502040204020203" pitchFamily="34" charset="0"/>
                <a:cs typeface="Segoe UI" panose="020B0502040204020203" pitchFamily="34" charset="0"/>
              </a:rPr>
              <a:t>=COUNTIF(</a:t>
            </a:r>
            <a:r>
              <a:rPr lang="en-IN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SizeOption</a:t>
            </a:r>
            <a:r>
              <a:rPr lang="en-IN" sz="1600" dirty="0">
                <a:latin typeface="Segoe UI" panose="020B0502040204020203" pitchFamily="34" charset="0"/>
                <a:cs typeface="Segoe UI" panose="020B0502040204020203" pitchFamily="34" charset="0"/>
              </a:rPr>
              <a:t>,"*M*")</a:t>
            </a:r>
            <a:r>
              <a:rPr lang="en-GB" sz="1600" dirty="0"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8AFCCA4-1F83-A12E-9B5F-5FEDDD3A4992}"/>
              </a:ext>
            </a:extLst>
          </p:cNvPr>
          <p:cNvSpPr txBox="1"/>
          <p:nvPr/>
        </p:nvSpPr>
        <p:spPr>
          <a:xfrm>
            <a:off x="3660037" y="4868818"/>
            <a:ext cx="4209158" cy="66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GB" sz="1600" b="1" dirty="0">
                <a:latin typeface="Segoe UI" panose="020B0502040204020203" pitchFamily="34" charset="0"/>
                <a:cs typeface="Segoe UI" panose="020B0502040204020203" pitchFamily="34" charset="0"/>
              </a:rPr>
              <a:t>Overall Average Rating:</a:t>
            </a:r>
          </a:p>
          <a:p>
            <a:pPr>
              <a:spcBef>
                <a:spcPts val="600"/>
              </a:spcBef>
            </a:pPr>
            <a:r>
              <a:rPr lang="en-IN" sz="1600" dirty="0">
                <a:latin typeface="Segoe UI" panose="020B0502040204020203" pitchFamily="34" charset="0"/>
                <a:cs typeface="Segoe UI" panose="020B0502040204020203" pitchFamily="34" charset="0"/>
              </a:rPr>
              <a:t>=AVERAGE(Ratings)</a:t>
            </a:r>
            <a:endParaRPr lang="en-GB" sz="1600"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7" name="Freeform 44">
            <a:extLst>
              <a:ext uri="{FF2B5EF4-FFF2-40B4-BE49-F238E27FC236}">
                <a16:creationId xmlns:a16="http://schemas.microsoft.com/office/drawing/2014/main" id="{209800F3-1B79-BC03-8794-7A396C32AAEA}"/>
              </a:ext>
            </a:extLst>
          </p:cNvPr>
          <p:cNvSpPr>
            <a:spLocks noEditPoints="1"/>
          </p:cNvSpPr>
          <p:nvPr/>
        </p:nvSpPr>
        <p:spPr bwMode="auto">
          <a:xfrm rot="16200000">
            <a:off x="1139731" y="1469754"/>
            <a:ext cx="276596" cy="277814"/>
          </a:xfrm>
          <a:custGeom>
            <a:avLst/>
            <a:gdLst>
              <a:gd name="T0" fmla="*/ 48 w 96"/>
              <a:gd name="T1" fmla="*/ 0 h 96"/>
              <a:gd name="T2" fmla="*/ 0 w 96"/>
              <a:gd name="T3" fmla="*/ 48 h 96"/>
              <a:gd name="T4" fmla="*/ 48 w 96"/>
              <a:gd name="T5" fmla="*/ 96 h 96"/>
              <a:gd name="T6" fmla="*/ 96 w 96"/>
              <a:gd name="T7" fmla="*/ 48 h 96"/>
              <a:gd name="T8" fmla="*/ 48 w 96"/>
              <a:gd name="T9" fmla="*/ 0 h 96"/>
              <a:gd name="T10" fmla="*/ 76 w 96"/>
              <a:gd name="T11" fmla="*/ 52 h 96"/>
              <a:gd name="T12" fmla="*/ 52 w 96"/>
              <a:gd name="T13" fmla="*/ 75 h 96"/>
              <a:gd name="T14" fmla="*/ 48 w 96"/>
              <a:gd name="T15" fmla="*/ 76 h 96"/>
              <a:gd name="T16" fmla="*/ 44 w 96"/>
              <a:gd name="T17" fmla="*/ 75 h 96"/>
              <a:gd name="T18" fmla="*/ 20 w 96"/>
              <a:gd name="T19" fmla="*/ 53 h 96"/>
              <a:gd name="T20" fmla="*/ 19 w 96"/>
              <a:gd name="T21" fmla="*/ 49 h 96"/>
              <a:gd name="T22" fmla="*/ 20 w 96"/>
              <a:gd name="T23" fmla="*/ 44 h 96"/>
              <a:gd name="T24" fmla="*/ 22 w 96"/>
              <a:gd name="T25" fmla="*/ 43 h 96"/>
              <a:gd name="T26" fmla="*/ 30 w 96"/>
              <a:gd name="T27" fmla="*/ 43 h 96"/>
              <a:gd name="T28" fmla="*/ 40 w 96"/>
              <a:gd name="T29" fmla="*/ 52 h 96"/>
              <a:gd name="T30" fmla="*/ 40 w 96"/>
              <a:gd name="T31" fmla="*/ 22 h 96"/>
              <a:gd name="T32" fmla="*/ 46 w 96"/>
              <a:gd name="T33" fmla="*/ 16 h 96"/>
              <a:gd name="T34" fmla="*/ 50 w 96"/>
              <a:gd name="T35" fmla="*/ 16 h 96"/>
              <a:gd name="T36" fmla="*/ 56 w 96"/>
              <a:gd name="T37" fmla="*/ 22 h 96"/>
              <a:gd name="T38" fmla="*/ 56 w 96"/>
              <a:gd name="T39" fmla="*/ 52 h 96"/>
              <a:gd name="T40" fmla="*/ 66 w 96"/>
              <a:gd name="T41" fmla="*/ 42 h 96"/>
              <a:gd name="T42" fmla="*/ 75 w 96"/>
              <a:gd name="T43" fmla="*/ 43 h 96"/>
              <a:gd name="T44" fmla="*/ 76 w 96"/>
              <a:gd name="T45" fmla="*/ 44 h 96"/>
              <a:gd name="T46" fmla="*/ 77 w 96"/>
              <a:gd name="T47" fmla="*/ 48 h 96"/>
              <a:gd name="T48" fmla="*/ 76 w 96"/>
              <a:gd name="T49" fmla="*/ 52 h 9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</a:cxnLst>
            <a:rect l="0" t="0" r="r" b="b"/>
            <a:pathLst>
              <a:path w="96" h="96">
                <a:moveTo>
                  <a:pt x="48" y="0"/>
                </a:moveTo>
                <a:cubicBezTo>
                  <a:pt x="22" y="0"/>
                  <a:pt x="0" y="22"/>
                  <a:pt x="0" y="48"/>
                </a:cubicBezTo>
                <a:cubicBezTo>
                  <a:pt x="0" y="74"/>
                  <a:pt x="22" y="96"/>
                  <a:pt x="48" y="96"/>
                </a:cubicBezTo>
                <a:cubicBezTo>
                  <a:pt x="75" y="96"/>
                  <a:pt x="96" y="74"/>
                  <a:pt x="96" y="48"/>
                </a:cubicBezTo>
                <a:cubicBezTo>
                  <a:pt x="96" y="22"/>
                  <a:pt x="75" y="0"/>
                  <a:pt x="48" y="0"/>
                </a:cubicBezTo>
                <a:close/>
                <a:moveTo>
                  <a:pt x="76" y="52"/>
                </a:moveTo>
                <a:cubicBezTo>
                  <a:pt x="52" y="75"/>
                  <a:pt x="52" y="75"/>
                  <a:pt x="52" y="75"/>
                </a:cubicBezTo>
                <a:cubicBezTo>
                  <a:pt x="51" y="76"/>
                  <a:pt x="50" y="76"/>
                  <a:pt x="48" y="76"/>
                </a:cubicBezTo>
                <a:cubicBezTo>
                  <a:pt x="46" y="76"/>
                  <a:pt x="45" y="76"/>
                  <a:pt x="44" y="75"/>
                </a:cubicBezTo>
                <a:cubicBezTo>
                  <a:pt x="20" y="53"/>
                  <a:pt x="20" y="53"/>
                  <a:pt x="20" y="53"/>
                </a:cubicBezTo>
                <a:cubicBezTo>
                  <a:pt x="19" y="52"/>
                  <a:pt x="19" y="50"/>
                  <a:pt x="19" y="49"/>
                </a:cubicBezTo>
                <a:cubicBezTo>
                  <a:pt x="19" y="47"/>
                  <a:pt x="19" y="45"/>
                  <a:pt x="20" y="44"/>
                </a:cubicBezTo>
                <a:cubicBezTo>
                  <a:pt x="22" y="43"/>
                  <a:pt x="22" y="43"/>
                  <a:pt x="22" y="43"/>
                </a:cubicBezTo>
                <a:cubicBezTo>
                  <a:pt x="24" y="41"/>
                  <a:pt x="28" y="41"/>
                  <a:pt x="30" y="43"/>
                </a:cubicBezTo>
                <a:cubicBezTo>
                  <a:pt x="40" y="52"/>
                  <a:pt x="40" y="52"/>
                  <a:pt x="40" y="52"/>
                </a:cubicBezTo>
                <a:cubicBezTo>
                  <a:pt x="40" y="22"/>
                  <a:pt x="40" y="22"/>
                  <a:pt x="40" y="22"/>
                </a:cubicBezTo>
                <a:cubicBezTo>
                  <a:pt x="40" y="19"/>
                  <a:pt x="43" y="16"/>
                  <a:pt x="46" y="16"/>
                </a:cubicBezTo>
                <a:cubicBezTo>
                  <a:pt x="50" y="16"/>
                  <a:pt x="50" y="16"/>
                  <a:pt x="50" y="16"/>
                </a:cubicBezTo>
                <a:cubicBezTo>
                  <a:pt x="53" y="16"/>
                  <a:pt x="56" y="19"/>
                  <a:pt x="56" y="22"/>
                </a:cubicBezTo>
                <a:cubicBezTo>
                  <a:pt x="56" y="52"/>
                  <a:pt x="56" y="52"/>
                  <a:pt x="56" y="52"/>
                </a:cubicBezTo>
                <a:cubicBezTo>
                  <a:pt x="66" y="42"/>
                  <a:pt x="66" y="42"/>
                  <a:pt x="66" y="42"/>
                </a:cubicBezTo>
                <a:cubicBezTo>
                  <a:pt x="68" y="40"/>
                  <a:pt x="72" y="40"/>
                  <a:pt x="75" y="43"/>
                </a:cubicBezTo>
                <a:cubicBezTo>
                  <a:pt x="76" y="44"/>
                  <a:pt x="76" y="44"/>
                  <a:pt x="76" y="44"/>
                </a:cubicBezTo>
                <a:cubicBezTo>
                  <a:pt x="77" y="45"/>
                  <a:pt x="77" y="46"/>
                  <a:pt x="77" y="48"/>
                </a:cubicBezTo>
                <a:cubicBezTo>
                  <a:pt x="77" y="50"/>
                  <a:pt x="77" y="51"/>
                  <a:pt x="76" y="52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38" name="Freeform 44">
            <a:extLst>
              <a:ext uri="{FF2B5EF4-FFF2-40B4-BE49-F238E27FC236}">
                <a16:creationId xmlns:a16="http://schemas.microsoft.com/office/drawing/2014/main" id="{CE55BB00-08A1-2E50-3B60-7CBBFADCB0D0}"/>
              </a:ext>
            </a:extLst>
          </p:cNvPr>
          <p:cNvSpPr>
            <a:spLocks noEditPoints="1"/>
          </p:cNvSpPr>
          <p:nvPr/>
        </p:nvSpPr>
        <p:spPr bwMode="auto">
          <a:xfrm rot="16200000">
            <a:off x="3182299" y="2642530"/>
            <a:ext cx="276596" cy="277814"/>
          </a:xfrm>
          <a:custGeom>
            <a:avLst/>
            <a:gdLst>
              <a:gd name="T0" fmla="*/ 48 w 96"/>
              <a:gd name="T1" fmla="*/ 0 h 96"/>
              <a:gd name="T2" fmla="*/ 0 w 96"/>
              <a:gd name="T3" fmla="*/ 48 h 96"/>
              <a:gd name="T4" fmla="*/ 48 w 96"/>
              <a:gd name="T5" fmla="*/ 96 h 96"/>
              <a:gd name="T6" fmla="*/ 96 w 96"/>
              <a:gd name="T7" fmla="*/ 48 h 96"/>
              <a:gd name="T8" fmla="*/ 48 w 96"/>
              <a:gd name="T9" fmla="*/ 0 h 96"/>
              <a:gd name="T10" fmla="*/ 76 w 96"/>
              <a:gd name="T11" fmla="*/ 52 h 96"/>
              <a:gd name="T12" fmla="*/ 52 w 96"/>
              <a:gd name="T13" fmla="*/ 75 h 96"/>
              <a:gd name="T14" fmla="*/ 48 w 96"/>
              <a:gd name="T15" fmla="*/ 76 h 96"/>
              <a:gd name="T16" fmla="*/ 44 w 96"/>
              <a:gd name="T17" fmla="*/ 75 h 96"/>
              <a:gd name="T18" fmla="*/ 20 w 96"/>
              <a:gd name="T19" fmla="*/ 53 h 96"/>
              <a:gd name="T20" fmla="*/ 19 w 96"/>
              <a:gd name="T21" fmla="*/ 49 h 96"/>
              <a:gd name="T22" fmla="*/ 20 w 96"/>
              <a:gd name="T23" fmla="*/ 44 h 96"/>
              <a:gd name="T24" fmla="*/ 22 w 96"/>
              <a:gd name="T25" fmla="*/ 43 h 96"/>
              <a:gd name="T26" fmla="*/ 30 w 96"/>
              <a:gd name="T27" fmla="*/ 43 h 96"/>
              <a:gd name="T28" fmla="*/ 40 w 96"/>
              <a:gd name="T29" fmla="*/ 52 h 96"/>
              <a:gd name="T30" fmla="*/ 40 w 96"/>
              <a:gd name="T31" fmla="*/ 22 h 96"/>
              <a:gd name="T32" fmla="*/ 46 w 96"/>
              <a:gd name="T33" fmla="*/ 16 h 96"/>
              <a:gd name="T34" fmla="*/ 50 w 96"/>
              <a:gd name="T35" fmla="*/ 16 h 96"/>
              <a:gd name="T36" fmla="*/ 56 w 96"/>
              <a:gd name="T37" fmla="*/ 22 h 96"/>
              <a:gd name="T38" fmla="*/ 56 w 96"/>
              <a:gd name="T39" fmla="*/ 52 h 96"/>
              <a:gd name="T40" fmla="*/ 66 w 96"/>
              <a:gd name="T41" fmla="*/ 42 h 96"/>
              <a:gd name="T42" fmla="*/ 75 w 96"/>
              <a:gd name="T43" fmla="*/ 43 h 96"/>
              <a:gd name="T44" fmla="*/ 76 w 96"/>
              <a:gd name="T45" fmla="*/ 44 h 96"/>
              <a:gd name="T46" fmla="*/ 77 w 96"/>
              <a:gd name="T47" fmla="*/ 48 h 96"/>
              <a:gd name="T48" fmla="*/ 76 w 96"/>
              <a:gd name="T49" fmla="*/ 52 h 9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</a:cxnLst>
            <a:rect l="0" t="0" r="r" b="b"/>
            <a:pathLst>
              <a:path w="96" h="96">
                <a:moveTo>
                  <a:pt x="48" y="0"/>
                </a:moveTo>
                <a:cubicBezTo>
                  <a:pt x="22" y="0"/>
                  <a:pt x="0" y="22"/>
                  <a:pt x="0" y="48"/>
                </a:cubicBezTo>
                <a:cubicBezTo>
                  <a:pt x="0" y="74"/>
                  <a:pt x="22" y="96"/>
                  <a:pt x="48" y="96"/>
                </a:cubicBezTo>
                <a:cubicBezTo>
                  <a:pt x="75" y="96"/>
                  <a:pt x="96" y="74"/>
                  <a:pt x="96" y="48"/>
                </a:cubicBezTo>
                <a:cubicBezTo>
                  <a:pt x="96" y="22"/>
                  <a:pt x="75" y="0"/>
                  <a:pt x="48" y="0"/>
                </a:cubicBezTo>
                <a:close/>
                <a:moveTo>
                  <a:pt x="76" y="52"/>
                </a:moveTo>
                <a:cubicBezTo>
                  <a:pt x="52" y="75"/>
                  <a:pt x="52" y="75"/>
                  <a:pt x="52" y="75"/>
                </a:cubicBezTo>
                <a:cubicBezTo>
                  <a:pt x="51" y="76"/>
                  <a:pt x="50" y="76"/>
                  <a:pt x="48" y="76"/>
                </a:cubicBezTo>
                <a:cubicBezTo>
                  <a:pt x="46" y="76"/>
                  <a:pt x="45" y="76"/>
                  <a:pt x="44" y="75"/>
                </a:cubicBezTo>
                <a:cubicBezTo>
                  <a:pt x="20" y="53"/>
                  <a:pt x="20" y="53"/>
                  <a:pt x="20" y="53"/>
                </a:cubicBezTo>
                <a:cubicBezTo>
                  <a:pt x="19" y="52"/>
                  <a:pt x="19" y="50"/>
                  <a:pt x="19" y="49"/>
                </a:cubicBezTo>
                <a:cubicBezTo>
                  <a:pt x="19" y="47"/>
                  <a:pt x="19" y="45"/>
                  <a:pt x="20" y="44"/>
                </a:cubicBezTo>
                <a:cubicBezTo>
                  <a:pt x="22" y="43"/>
                  <a:pt x="22" y="43"/>
                  <a:pt x="22" y="43"/>
                </a:cubicBezTo>
                <a:cubicBezTo>
                  <a:pt x="24" y="41"/>
                  <a:pt x="28" y="41"/>
                  <a:pt x="30" y="43"/>
                </a:cubicBezTo>
                <a:cubicBezTo>
                  <a:pt x="40" y="52"/>
                  <a:pt x="40" y="52"/>
                  <a:pt x="40" y="52"/>
                </a:cubicBezTo>
                <a:cubicBezTo>
                  <a:pt x="40" y="22"/>
                  <a:pt x="40" y="22"/>
                  <a:pt x="40" y="22"/>
                </a:cubicBezTo>
                <a:cubicBezTo>
                  <a:pt x="40" y="19"/>
                  <a:pt x="43" y="16"/>
                  <a:pt x="46" y="16"/>
                </a:cubicBezTo>
                <a:cubicBezTo>
                  <a:pt x="50" y="16"/>
                  <a:pt x="50" y="16"/>
                  <a:pt x="50" y="16"/>
                </a:cubicBezTo>
                <a:cubicBezTo>
                  <a:pt x="53" y="16"/>
                  <a:pt x="56" y="19"/>
                  <a:pt x="56" y="22"/>
                </a:cubicBezTo>
                <a:cubicBezTo>
                  <a:pt x="56" y="52"/>
                  <a:pt x="56" y="52"/>
                  <a:pt x="56" y="52"/>
                </a:cubicBezTo>
                <a:cubicBezTo>
                  <a:pt x="66" y="42"/>
                  <a:pt x="66" y="42"/>
                  <a:pt x="66" y="42"/>
                </a:cubicBezTo>
                <a:cubicBezTo>
                  <a:pt x="68" y="40"/>
                  <a:pt x="72" y="40"/>
                  <a:pt x="75" y="43"/>
                </a:cubicBezTo>
                <a:cubicBezTo>
                  <a:pt x="76" y="44"/>
                  <a:pt x="76" y="44"/>
                  <a:pt x="76" y="44"/>
                </a:cubicBezTo>
                <a:cubicBezTo>
                  <a:pt x="77" y="45"/>
                  <a:pt x="77" y="46"/>
                  <a:pt x="77" y="48"/>
                </a:cubicBezTo>
                <a:cubicBezTo>
                  <a:pt x="77" y="50"/>
                  <a:pt x="77" y="51"/>
                  <a:pt x="76" y="52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40" name="Freeform 44">
            <a:extLst>
              <a:ext uri="{FF2B5EF4-FFF2-40B4-BE49-F238E27FC236}">
                <a16:creationId xmlns:a16="http://schemas.microsoft.com/office/drawing/2014/main" id="{B97F4181-5405-9253-7D31-6ADBA6C5454A}"/>
              </a:ext>
            </a:extLst>
          </p:cNvPr>
          <p:cNvSpPr>
            <a:spLocks noEditPoints="1"/>
          </p:cNvSpPr>
          <p:nvPr/>
        </p:nvSpPr>
        <p:spPr bwMode="auto">
          <a:xfrm rot="16200000">
            <a:off x="1136442" y="4047979"/>
            <a:ext cx="276596" cy="277814"/>
          </a:xfrm>
          <a:custGeom>
            <a:avLst/>
            <a:gdLst>
              <a:gd name="T0" fmla="*/ 48 w 96"/>
              <a:gd name="T1" fmla="*/ 0 h 96"/>
              <a:gd name="T2" fmla="*/ 0 w 96"/>
              <a:gd name="T3" fmla="*/ 48 h 96"/>
              <a:gd name="T4" fmla="*/ 48 w 96"/>
              <a:gd name="T5" fmla="*/ 96 h 96"/>
              <a:gd name="T6" fmla="*/ 96 w 96"/>
              <a:gd name="T7" fmla="*/ 48 h 96"/>
              <a:gd name="T8" fmla="*/ 48 w 96"/>
              <a:gd name="T9" fmla="*/ 0 h 96"/>
              <a:gd name="T10" fmla="*/ 76 w 96"/>
              <a:gd name="T11" fmla="*/ 52 h 96"/>
              <a:gd name="T12" fmla="*/ 52 w 96"/>
              <a:gd name="T13" fmla="*/ 75 h 96"/>
              <a:gd name="T14" fmla="*/ 48 w 96"/>
              <a:gd name="T15" fmla="*/ 76 h 96"/>
              <a:gd name="T16" fmla="*/ 44 w 96"/>
              <a:gd name="T17" fmla="*/ 75 h 96"/>
              <a:gd name="T18" fmla="*/ 20 w 96"/>
              <a:gd name="T19" fmla="*/ 53 h 96"/>
              <a:gd name="T20" fmla="*/ 19 w 96"/>
              <a:gd name="T21" fmla="*/ 49 h 96"/>
              <a:gd name="T22" fmla="*/ 20 w 96"/>
              <a:gd name="T23" fmla="*/ 44 h 96"/>
              <a:gd name="T24" fmla="*/ 22 w 96"/>
              <a:gd name="T25" fmla="*/ 43 h 96"/>
              <a:gd name="T26" fmla="*/ 30 w 96"/>
              <a:gd name="T27" fmla="*/ 43 h 96"/>
              <a:gd name="T28" fmla="*/ 40 w 96"/>
              <a:gd name="T29" fmla="*/ 52 h 96"/>
              <a:gd name="T30" fmla="*/ 40 w 96"/>
              <a:gd name="T31" fmla="*/ 22 h 96"/>
              <a:gd name="T32" fmla="*/ 46 w 96"/>
              <a:gd name="T33" fmla="*/ 16 h 96"/>
              <a:gd name="T34" fmla="*/ 50 w 96"/>
              <a:gd name="T35" fmla="*/ 16 h 96"/>
              <a:gd name="T36" fmla="*/ 56 w 96"/>
              <a:gd name="T37" fmla="*/ 22 h 96"/>
              <a:gd name="T38" fmla="*/ 56 w 96"/>
              <a:gd name="T39" fmla="*/ 52 h 96"/>
              <a:gd name="T40" fmla="*/ 66 w 96"/>
              <a:gd name="T41" fmla="*/ 42 h 96"/>
              <a:gd name="T42" fmla="*/ 75 w 96"/>
              <a:gd name="T43" fmla="*/ 43 h 96"/>
              <a:gd name="T44" fmla="*/ 76 w 96"/>
              <a:gd name="T45" fmla="*/ 44 h 96"/>
              <a:gd name="T46" fmla="*/ 77 w 96"/>
              <a:gd name="T47" fmla="*/ 48 h 96"/>
              <a:gd name="T48" fmla="*/ 76 w 96"/>
              <a:gd name="T49" fmla="*/ 52 h 9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</a:cxnLst>
            <a:rect l="0" t="0" r="r" b="b"/>
            <a:pathLst>
              <a:path w="96" h="96">
                <a:moveTo>
                  <a:pt x="48" y="0"/>
                </a:moveTo>
                <a:cubicBezTo>
                  <a:pt x="22" y="0"/>
                  <a:pt x="0" y="22"/>
                  <a:pt x="0" y="48"/>
                </a:cubicBezTo>
                <a:cubicBezTo>
                  <a:pt x="0" y="74"/>
                  <a:pt x="22" y="96"/>
                  <a:pt x="48" y="96"/>
                </a:cubicBezTo>
                <a:cubicBezTo>
                  <a:pt x="75" y="96"/>
                  <a:pt x="96" y="74"/>
                  <a:pt x="96" y="48"/>
                </a:cubicBezTo>
                <a:cubicBezTo>
                  <a:pt x="96" y="22"/>
                  <a:pt x="75" y="0"/>
                  <a:pt x="48" y="0"/>
                </a:cubicBezTo>
                <a:close/>
                <a:moveTo>
                  <a:pt x="76" y="52"/>
                </a:moveTo>
                <a:cubicBezTo>
                  <a:pt x="52" y="75"/>
                  <a:pt x="52" y="75"/>
                  <a:pt x="52" y="75"/>
                </a:cubicBezTo>
                <a:cubicBezTo>
                  <a:pt x="51" y="76"/>
                  <a:pt x="50" y="76"/>
                  <a:pt x="48" y="76"/>
                </a:cubicBezTo>
                <a:cubicBezTo>
                  <a:pt x="46" y="76"/>
                  <a:pt x="45" y="76"/>
                  <a:pt x="44" y="75"/>
                </a:cubicBezTo>
                <a:cubicBezTo>
                  <a:pt x="20" y="53"/>
                  <a:pt x="20" y="53"/>
                  <a:pt x="20" y="53"/>
                </a:cubicBezTo>
                <a:cubicBezTo>
                  <a:pt x="19" y="52"/>
                  <a:pt x="19" y="50"/>
                  <a:pt x="19" y="49"/>
                </a:cubicBezTo>
                <a:cubicBezTo>
                  <a:pt x="19" y="47"/>
                  <a:pt x="19" y="45"/>
                  <a:pt x="20" y="44"/>
                </a:cubicBezTo>
                <a:cubicBezTo>
                  <a:pt x="22" y="43"/>
                  <a:pt x="22" y="43"/>
                  <a:pt x="22" y="43"/>
                </a:cubicBezTo>
                <a:cubicBezTo>
                  <a:pt x="24" y="41"/>
                  <a:pt x="28" y="41"/>
                  <a:pt x="30" y="43"/>
                </a:cubicBezTo>
                <a:cubicBezTo>
                  <a:pt x="40" y="52"/>
                  <a:pt x="40" y="52"/>
                  <a:pt x="40" y="52"/>
                </a:cubicBezTo>
                <a:cubicBezTo>
                  <a:pt x="40" y="22"/>
                  <a:pt x="40" y="22"/>
                  <a:pt x="40" y="22"/>
                </a:cubicBezTo>
                <a:cubicBezTo>
                  <a:pt x="40" y="19"/>
                  <a:pt x="43" y="16"/>
                  <a:pt x="46" y="16"/>
                </a:cubicBezTo>
                <a:cubicBezTo>
                  <a:pt x="50" y="16"/>
                  <a:pt x="50" y="16"/>
                  <a:pt x="50" y="16"/>
                </a:cubicBezTo>
                <a:cubicBezTo>
                  <a:pt x="53" y="16"/>
                  <a:pt x="56" y="19"/>
                  <a:pt x="56" y="22"/>
                </a:cubicBezTo>
                <a:cubicBezTo>
                  <a:pt x="56" y="52"/>
                  <a:pt x="56" y="52"/>
                  <a:pt x="56" y="52"/>
                </a:cubicBezTo>
                <a:cubicBezTo>
                  <a:pt x="66" y="42"/>
                  <a:pt x="66" y="42"/>
                  <a:pt x="66" y="42"/>
                </a:cubicBezTo>
                <a:cubicBezTo>
                  <a:pt x="68" y="40"/>
                  <a:pt x="72" y="40"/>
                  <a:pt x="75" y="43"/>
                </a:cubicBezTo>
                <a:cubicBezTo>
                  <a:pt x="76" y="44"/>
                  <a:pt x="76" y="44"/>
                  <a:pt x="76" y="44"/>
                </a:cubicBezTo>
                <a:cubicBezTo>
                  <a:pt x="77" y="45"/>
                  <a:pt x="77" y="46"/>
                  <a:pt x="77" y="48"/>
                </a:cubicBezTo>
                <a:cubicBezTo>
                  <a:pt x="77" y="50"/>
                  <a:pt x="77" y="51"/>
                  <a:pt x="76" y="52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41" name="Freeform 44">
            <a:extLst>
              <a:ext uri="{FF2B5EF4-FFF2-40B4-BE49-F238E27FC236}">
                <a16:creationId xmlns:a16="http://schemas.microsoft.com/office/drawing/2014/main" id="{8BFF9A80-25CA-3ACF-965A-4156DFDCCAF5}"/>
              </a:ext>
            </a:extLst>
          </p:cNvPr>
          <p:cNvSpPr>
            <a:spLocks noEditPoints="1"/>
          </p:cNvSpPr>
          <p:nvPr/>
        </p:nvSpPr>
        <p:spPr bwMode="auto">
          <a:xfrm rot="16200000">
            <a:off x="3182299" y="5091548"/>
            <a:ext cx="276596" cy="277814"/>
          </a:xfrm>
          <a:custGeom>
            <a:avLst/>
            <a:gdLst>
              <a:gd name="T0" fmla="*/ 48 w 96"/>
              <a:gd name="T1" fmla="*/ 0 h 96"/>
              <a:gd name="T2" fmla="*/ 0 w 96"/>
              <a:gd name="T3" fmla="*/ 48 h 96"/>
              <a:gd name="T4" fmla="*/ 48 w 96"/>
              <a:gd name="T5" fmla="*/ 96 h 96"/>
              <a:gd name="T6" fmla="*/ 96 w 96"/>
              <a:gd name="T7" fmla="*/ 48 h 96"/>
              <a:gd name="T8" fmla="*/ 48 w 96"/>
              <a:gd name="T9" fmla="*/ 0 h 96"/>
              <a:gd name="T10" fmla="*/ 76 w 96"/>
              <a:gd name="T11" fmla="*/ 52 h 96"/>
              <a:gd name="T12" fmla="*/ 52 w 96"/>
              <a:gd name="T13" fmla="*/ 75 h 96"/>
              <a:gd name="T14" fmla="*/ 48 w 96"/>
              <a:gd name="T15" fmla="*/ 76 h 96"/>
              <a:gd name="T16" fmla="*/ 44 w 96"/>
              <a:gd name="T17" fmla="*/ 75 h 96"/>
              <a:gd name="T18" fmla="*/ 20 w 96"/>
              <a:gd name="T19" fmla="*/ 53 h 96"/>
              <a:gd name="T20" fmla="*/ 19 w 96"/>
              <a:gd name="T21" fmla="*/ 49 h 96"/>
              <a:gd name="T22" fmla="*/ 20 w 96"/>
              <a:gd name="T23" fmla="*/ 44 h 96"/>
              <a:gd name="T24" fmla="*/ 22 w 96"/>
              <a:gd name="T25" fmla="*/ 43 h 96"/>
              <a:gd name="T26" fmla="*/ 30 w 96"/>
              <a:gd name="T27" fmla="*/ 43 h 96"/>
              <a:gd name="T28" fmla="*/ 40 w 96"/>
              <a:gd name="T29" fmla="*/ 52 h 96"/>
              <a:gd name="T30" fmla="*/ 40 w 96"/>
              <a:gd name="T31" fmla="*/ 22 h 96"/>
              <a:gd name="T32" fmla="*/ 46 w 96"/>
              <a:gd name="T33" fmla="*/ 16 h 96"/>
              <a:gd name="T34" fmla="*/ 50 w 96"/>
              <a:gd name="T35" fmla="*/ 16 h 96"/>
              <a:gd name="T36" fmla="*/ 56 w 96"/>
              <a:gd name="T37" fmla="*/ 22 h 96"/>
              <a:gd name="T38" fmla="*/ 56 w 96"/>
              <a:gd name="T39" fmla="*/ 52 h 96"/>
              <a:gd name="T40" fmla="*/ 66 w 96"/>
              <a:gd name="T41" fmla="*/ 42 h 96"/>
              <a:gd name="T42" fmla="*/ 75 w 96"/>
              <a:gd name="T43" fmla="*/ 43 h 96"/>
              <a:gd name="T44" fmla="*/ 76 w 96"/>
              <a:gd name="T45" fmla="*/ 44 h 96"/>
              <a:gd name="T46" fmla="*/ 77 w 96"/>
              <a:gd name="T47" fmla="*/ 48 h 96"/>
              <a:gd name="T48" fmla="*/ 76 w 96"/>
              <a:gd name="T49" fmla="*/ 52 h 9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</a:cxnLst>
            <a:rect l="0" t="0" r="r" b="b"/>
            <a:pathLst>
              <a:path w="96" h="96">
                <a:moveTo>
                  <a:pt x="48" y="0"/>
                </a:moveTo>
                <a:cubicBezTo>
                  <a:pt x="22" y="0"/>
                  <a:pt x="0" y="22"/>
                  <a:pt x="0" y="48"/>
                </a:cubicBezTo>
                <a:cubicBezTo>
                  <a:pt x="0" y="74"/>
                  <a:pt x="22" y="96"/>
                  <a:pt x="48" y="96"/>
                </a:cubicBezTo>
                <a:cubicBezTo>
                  <a:pt x="75" y="96"/>
                  <a:pt x="96" y="74"/>
                  <a:pt x="96" y="48"/>
                </a:cubicBezTo>
                <a:cubicBezTo>
                  <a:pt x="96" y="22"/>
                  <a:pt x="75" y="0"/>
                  <a:pt x="48" y="0"/>
                </a:cubicBezTo>
                <a:close/>
                <a:moveTo>
                  <a:pt x="76" y="52"/>
                </a:moveTo>
                <a:cubicBezTo>
                  <a:pt x="52" y="75"/>
                  <a:pt x="52" y="75"/>
                  <a:pt x="52" y="75"/>
                </a:cubicBezTo>
                <a:cubicBezTo>
                  <a:pt x="51" y="76"/>
                  <a:pt x="50" y="76"/>
                  <a:pt x="48" y="76"/>
                </a:cubicBezTo>
                <a:cubicBezTo>
                  <a:pt x="46" y="76"/>
                  <a:pt x="45" y="76"/>
                  <a:pt x="44" y="75"/>
                </a:cubicBezTo>
                <a:cubicBezTo>
                  <a:pt x="20" y="53"/>
                  <a:pt x="20" y="53"/>
                  <a:pt x="20" y="53"/>
                </a:cubicBezTo>
                <a:cubicBezTo>
                  <a:pt x="19" y="52"/>
                  <a:pt x="19" y="50"/>
                  <a:pt x="19" y="49"/>
                </a:cubicBezTo>
                <a:cubicBezTo>
                  <a:pt x="19" y="47"/>
                  <a:pt x="19" y="45"/>
                  <a:pt x="20" y="44"/>
                </a:cubicBezTo>
                <a:cubicBezTo>
                  <a:pt x="22" y="43"/>
                  <a:pt x="22" y="43"/>
                  <a:pt x="22" y="43"/>
                </a:cubicBezTo>
                <a:cubicBezTo>
                  <a:pt x="24" y="41"/>
                  <a:pt x="28" y="41"/>
                  <a:pt x="30" y="43"/>
                </a:cubicBezTo>
                <a:cubicBezTo>
                  <a:pt x="40" y="52"/>
                  <a:pt x="40" y="52"/>
                  <a:pt x="40" y="52"/>
                </a:cubicBezTo>
                <a:cubicBezTo>
                  <a:pt x="40" y="22"/>
                  <a:pt x="40" y="22"/>
                  <a:pt x="40" y="22"/>
                </a:cubicBezTo>
                <a:cubicBezTo>
                  <a:pt x="40" y="19"/>
                  <a:pt x="43" y="16"/>
                  <a:pt x="46" y="16"/>
                </a:cubicBezTo>
                <a:cubicBezTo>
                  <a:pt x="50" y="16"/>
                  <a:pt x="50" y="16"/>
                  <a:pt x="50" y="16"/>
                </a:cubicBezTo>
                <a:cubicBezTo>
                  <a:pt x="53" y="16"/>
                  <a:pt x="56" y="19"/>
                  <a:pt x="56" y="22"/>
                </a:cubicBezTo>
                <a:cubicBezTo>
                  <a:pt x="56" y="52"/>
                  <a:pt x="56" y="52"/>
                  <a:pt x="56" y="52"/>
                </a:cubicBezTo>
                <a:cubicBezTo>
                  <a:pt x="66" y="42"/>
                  <a:pt x="66" y="42"/>
                  <a:pt x="66" y="42"/>
                </a:cubicBezTo>
                <a:cubicBezTo>
                  <a:pt x="68" y="40"/>
                  <a:pt x="72" y="40"/>
                  <a:pt x="75" y="43"/>
                </a:cubicBezTo>
                <a:cubicBezTo>
                  <a:pt x="76" y="44"/>
                  <a:pt x="76" y="44"/>
                  <a:pt x="76" y="44"/>
                </a:cubicBezTo>
                <a:cubicBezTo>
                  <a:pt x="77" y="45"/>
                  <a:pt x="77" y="46"/>
                  <a:pt x="77" y="48"/>
                </a:cubicBezTo>
                <a:cubicBezTo>
                  <a:pt x="77" y="50"/>
                  <a:pt x="77" y="51"/>
                  <a:pt x="76" y="52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44C96B8-4942-7B48-52E2-83A0B79FC5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93250" y="271086"/>
            <a:ext cx="2301439" cy="746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93312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1BEA9A-7481-6A97-284E-BB3068E28E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: Top Corners Rounded 4">
            <a:extLst>
              <a:ext uri="{FF2B5EF4-FFF2-40B4-BE49-F238E27FC236}">
                <a16:creationId xmlns:a16="http://schemas.microsoft.com/office/drawing/2014/main" id="{ABA04D9A-FDC5-CAC2-901C-C560493A61E6}"/>
              </a:ext>
            </a:extLst>
          </p:cNvPr>
          <p:cNvSpPr/>
          <p:nvPr/>
        </p:nvSpPr>
        <p:spPr>
          <a:xfrm>
            <a:off x="6808623" y="1968291"/>
            <a:ext cx="4989096" cy="4822597"/>
          </a:xfrm>
          <a:prstGeom prst="round2SameRect">
            <a:avLst>
              <a:gd name="adj1" fmla="val 16667"/>
              <a:gd name="adj2" fmla="val 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anrope"/>
              <a:ea typeface="+mn-ea"/>
              <a:cs typeface="+mn-cs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B106D9F-1309-A309-4F4C-DA7691A3ADEA}"/>
              </a:ext>
            </a:extLst>
          </p:cNvPr>
          <p:cNvSpPr txBox="1"/>
          <p:nvPr/>
        </p:nvSpPr>
        <p:spPr>
          <a:xfrm>
            <a:off x="479470" y="733447"/>
            <a:ext cx="6173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="1" dirty="0">
                <a:solidFill>
                  <a:srgbClr val="FFFFF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Discount Classification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7EEA3956-B7A3-88F9-BD40-B1813A2E27D9}"/>
              </a:ext>
            </a:extLst>
          </p:cNvPr>
          <p:cNvSpPr/>
          <p:nvPr/>
        </p:nvSpPr>
        <p:spPr>
          <a:xfrm rot="16200000">
            <a:off x="11086538" y="-966274"/>
            <a:ext cx="515620" cy="2458724"/>
          </a:xfrm>
          <a:prstGeom prst="rect">
            <a:avLst/>
          </a:prstGeom>
          <a:gradFill flip="none" rotWithShape="1">
            <a:gsLst>
              <a:gs pos="42000">
                <a:schemeClr val="accent1">
                  <a:lumMod val="75000"/>
                  <a:alpha val="35000"/>
                </a:schemeClr>
              </a:gs>
              <a:gs pos="0">
                <a:schemeClr val="accent1"/>
              </a:gs>
              <a:gs pos="89000">
                <a:schemeClr val="accent1">
                  <a:lumMod val="75000"/>
                  <a:alpha val="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anrope"/>
              <a:ea typeface="+mn-ea"/>
              <a:cs typeface="+mn-cs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5F397AD8-9D9D-D2BB-6BB4-93AE739A61D4}"/>
              </a:ext>
            </a:extLst>
          </p:cNvPr>
          <p:cNvSpPr/>
          <p:nvPr/>
        </p:nvSpPr>
        <p:spPr>
          <a:xfrm rot="5400000" flipH="1">
            <a:off x="597620" y="-597620"/>
            <a:ext cx="515620" cy="1710860"/>
          </a:xfrm>
          <a:prstGeom prst="rect">
            <a:avLst/>
          </a:prstGeom>
          <a:gradFill flip="none" rotWithShape="1">
            <a:gsLst>
              <a:gs pos="42000">
                <a:schemeClr val="accent1">
                  <a:lumMod val="75000"/>
                  <a:alpha val="35000"/>
                </a:schemeClr>
              </a:gs>
              <a:gs pos="0">
                <a:schemeClr val="accent1"/>
              </a:gs>
              <a:gs pos="89000">
                <a:schemeClr val="accent1">
                  <a:lumMod val="75000"/>
                  <a:alpha val="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anrope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86C4BA6-258D-9578-3A61-4CC3ABC99549}"/>
              </a:ext>
            </a:extLst>
          </p:cNvPr>
          <p:cNvSpPr txBox="1"/>
          <p:nvPr/>
        </p:nvSpPr>
        <p:spPr>
          <a:xfrm>
            <a:off x="479471" y="1696849"/>
            <a:ext cx="660713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buNone/>
            </a:pPr>
            <a:r>
              <a:rPr lang="en-US" sz="16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=IF(</a:t>
            </a:r>
            <a:r>
              <a:rPr lang="en-US" sz="160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DiscountOffer</a:t>
            </a:r>
            <a:r>
              <a:rPr lang="en-US" sz="16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&gt;50,"High </a:t>
            </a:r>
            <a:r>
              <a:rPr lang="en-US" sz="160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Discount","Low</a:t>
            </a:r>
            <a:r>
              <a:rPr lang="en-US" sz="16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Discount")</a:t>
            </a:r>
            <a:endParaRPr lang="en-GB" sz="1600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76D9AC4-2802-A99B-41F9-4EBD4717F61A}"/>
              </a:ext>
            </a:extLst>
          </p:cNvPr>
          <p:cNvSpPr txBox="1"/>
          <p:nvPr/>
        </p:nvSpPr>
        <p:spPr>
          <a:xfrm>
            <a:off x="479470" y="2441039"/>
            <a:ext cx="5616530" cy="7232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IN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High Discount</a:t>
            </a:r>
            <a:r>
              <a:rPr lang="en-IN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— discount offer greater than 50%</a:t>
            </a:r>
          </a:p>
          <a:p>
            <a:pPr>
              <a:spcBef>
                <a:spcPts val="600"/>
              </a:spcBef>
            </a:pPr>
            <a:r>
              <a:rPr lang="en-IN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Low Discount</a:t>
            </a:r>
            <a:r>
              <a:rPr lang="en-IN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— discount offer 50% or less</a:t>
            </a:r>
            <a:endParaRPr lang="en-GB" b="1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FFC2794-BE2B-2034-3617-ABAFB5F80169}"/>
              </a:ext>
            </a:extLst>
          </p:cNvPr>
          <p:cNvSpPr txBox="1"/>
          <p:nvPr/>
        </p:nvSpPr>
        <p:spPr>
          <a:xfrm>
            <a:off x="479470" y="3960822"/>
            <a:ext cx="6173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Interpretation</a:t>
            </a:r>
            <a:br>
              <a:rPr lang="en-IN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IN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"Use this classification to spot which products are being sold at steep discounts — useful for tracking margin impact and planning future promotions."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E78ED80D-68BC-B2CE-2F49-46CF7F9B31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36024" y="3015491"/>
            <a:ext cx="4534293" cy="2728196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943F595B-C5B1-E44C-6EE2-C370F61A91F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63160" y="515620"/>
            <a:ext cx="2301439" cy="746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79436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>
            <a:extLst>
              <a:ext uri="{FF2B5EF4-FFF2-40B4-BE49-F238E27FC236}">
                <a16:creationId xmlns:a16="http://schemas.microsoft.com/office/drawing/2014/main" id="{579CF15D-2D85-CC1D-AF29-AE660A4FAFBC}"/>
              </a:ext>
            </a:extLst>
          </p:cNvPr>
          <p:cNvSpPr txBox="1"/>
          <p:nvPr/>
        </p:nvSpPr>
        <p:spPr>
          <a:xfrm>
            <a:off x="688287" y="424453"/>
            <a:ext cx="439064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Types of Statistics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014D6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EED44711-2080-24C5-EE87-8FCBEBB4BF66}"/>
              </a:ext>
            </a:extLst>
          </p:cNvPr>
          <p:cNvSpPr/>
          <p:nvPr/>
        </p:nvSpPr>
        <p:spPr>
          <a:xfrm rot="16200000">
            <a:off x="10755654" y="-229656"/>
            <a:ext cx="597240" cy="2275452"/>
          </a:xfrm>
          <a:prstGeom prst="rect">
            <a:avLst/>
          </a:prstGeom>
          <a:gradFill flip="none" rotWithShape="1">
            <a:gsLst>
              <a:gs pos="42000">
                <a:schemeClr val="accent1">
                  <a:lumMod val="75000"/>
                  <a:alpha val="35000"/>
                </a:schemeClr>
              </a:gs>
              <a:gs pos="0">
                <a:schemeClr val="accent1"/>
              </a:gs>
              <a:gs pos="89000">
                <a:schemeClr val="accent1">
                  <a:lumMod val="75000"/>
                  <a:alpha val="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anrope"/>
              <a:ea typeface="+mn-ea"/>
              <a:cs typeface="+mn-cs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3002866-4E5C-3C35-5663-EF6385D9ABB5}"/>
              </a:ext>
            </a:extLst>
          </p:cNvPr>
          <p:cNvSpPr/>
          <p:nvPr/>
        </p:nvSpPr>
        <p:spPr>
          <a:xfrm rot="16200000" flipH="1">
            <a:off x="94918" y="-42457"/>
            <a:ext cx="515620" cy="1710860"/>
          </a:xfrm>
          <a:prstGeom prst="rect">
            <a:avLst/>
          </a:prstGeom>
          <a:gradFill flip="none" rotWithShape="1">
            <a:gsLst>
              <a:gs pos="42000">
                <a:schemeClr val="accent1">
                  <a:lumMod val="75000"/>
                  <a:alpha val="35000"/>
                </a:schemeClr>
              </a:gs>
              <a:gs pos="0">
                <a:schemeClr val="accent1"/>
              </a:gs>
              <a:gs pos="89000">
                <a:schemeClr val="accent1">
                  <a:lumMod val="75000"/>
                  <a:alpha val="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anrope"/>
              <a:ea typeface="+mn-ea"/>
              <a:cs typeface="+mn-cs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CE8E858-18E1-6571-2848-9AA0D0E6E925}"/>
              </a:ext>
            </a:extLst>
          </p:cNvPr>
          <p:cNvSpPr/>
          <p:nvPr/>
        </p:nvSpPr>
        <p:spPr>
          <a:xfrm>
            <a:off x="660702" y="1480567"/>
            <a:ext cx="2795560" cy="474965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lang="en-US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A7301A3-A28A-4231-4F10-E3348EF67FF7}"/>
              </a:ext>
            </a:extLst>
          </p:cNvPr>
          <p:cNvSpPr/>
          <p:nvPr/>
        </p:nvSpPr>
        <p:spPr>
          <a:xfrm>
            <a:off x="4143534" y="1480568"/>
            <a:ext cx="2795560" cy="474965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anrope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EE02195-4142-8383-7220-4131B59B8EEA}"/>
              </a:ext>
            </a:extLst>
          </p:cNvPr>
          <p:cNvSpPr/>
          <p:nvPr/>
        </p:nvSpPr>
        <p:spPr>
          <a:xfrm>
            <a:off x="8077468" y="1480567"/>
            <a:ext cx="2795560" cy="474965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anrope"/>
              <a:ea typeface="+mn-ea"/>
              <a:cs typeface="+mn-cs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AE6E6E0-BA58-803E-3C26-3A00C6FDA652}"/>
              </a:ext>
            </a:extLst>
          </p:cNvPr>
          <p:cNvSpPr txBox="1"/>
          <p:nvPr/>
        </p:nvSpPr>
        <p:spPr>
          <a:xfrm>
            <a:off x="1318972" y="1738730"/>
            <a:ext cx="147902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/>
            <a:r>
              <a:rPr lang="en-US" sz="16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VLOOKUP</a:t>
            </a:r>
            <a:endParaRPr lang="id-ID" sz="1600" b="1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7B9A26D-9D8C-9D7F-AA16-87393D32C181}"/>
              </a:ext>
            </a:extLst>
          </p:cNvPr>
          <p:cNvSpPr txBox="1"/>
          <p:nvPr/>
        </p:nvSpPr>
        <p:spPr>
          <a:xfrm>
            <a:off x="8735736" y="1738730"/>
            <a:ext cx="147902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/>
            <a:r>
              <a:rPr lang="en-US" sz="16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Nested XLOOKUP</a:t>
            </a:r>
            <a:endParaRPr lang="id-ID" sz="1600" b="1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99DFB48-E8DB-DEE6-2BEE-3564679EFFEC}"/>
              </a:ext>
            </a:extLst>
          </p:cNvPr>
          <p:cNvSpPr txBox="1"/>
          <p:nvPr/>
        </p:nvSpPr>
        <p:spPr>
          <a:xfrm>
            <a:off x="4702531" y="1738730"/>
            <a:ext cx="18903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/>
            <a:r>
              <a:rPr lang="en-US" sz="16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INDEX + MATCH</a:t>
            </a:r>
            <a:endParaRPr lang="id-ID" sz="1600" b="1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39" name="Picture 38">
            <a:extLst>
              <a:ext uri="{FF2B5EF4-FFF2-40B4-BE49-F238E27FC236}">
                <a16:creationId xmlns:a16="http://schemas.microsoft.com/office/drawing/2014/main" id="{1E03B09E-9011-E837-8CCF-971509E40D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06198" y="277292"/>
            <a:ext cx="2301439" cy="74682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7EEEA05-E1B6-392D-6787-8E7A50C3BC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7264" y="3010854"/>
            <a:ext cx="2293819" cy="24386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D4223FE-9815-A6CB-B7FF-E0ED19E30A0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2505" y="3524085"/>
            <a:ext cx="2263336" cy="22862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52AE5C6-8F96-639A-37CB-A3DA8174A5E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7763" y="4022075"/>
            <a:ext cx="2301439" cy="266723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050848CA-007C-B2C9-980C-593FB2009790}"/>
              </a:ext>
            </a:extLst>
          </p:cNvPr>
          <p:cNvSpPr txBox="1"/>
          <p:nvPr/>
        </p:nvSpPr>
        <p:spPr>
          <a:xfrm>
            <a:off x="805119" y="2298882"/>
            <a:ext cx="2208056" cy="6985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14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Product ID: 11226634</a:t>
            </a:r>
          </a:p>
          <a:p>
            <a:pPr algn="ctr">
              <a:lnSpc>
                <a:spcPct val="150000"/>
              </a:lnSpc>
            </a:pPr>
            <a:endParaRPr lang="en-IN" sz="1400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2582F59-6807-EAA9-95DB-A1827D4E0B04}"/>
              </a:ext>
            </a:extLst>
          </p:cNvPr>
          <p:cNvSpPr txBox="1"/>
          <p:nvPr/>
        </p:nvSpPr>
        <p:spPr>
          <a:xfrm>
            <a:off x="907763" y="4619973"/>
            <a:ext cx="2208056" cy="10216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14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Brand Name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14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Discount Price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14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Rating</a:t>
            </a:r>
            <a:endParaRPr lang="en-IN" sz="1400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869DA339-0FE4-9105-5E8B-0DFFC1B1BED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04335" y="3028826"/>
            <a:ext cx="2209992" cy="243861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5C57D0DA-4EAC-D6DC-F807-CEA6998EC8D2}"/>
              </a:ext>
            </a:extLst>
          </p:cNvPr>
          <p:cNvSpPr txBox="1"/>
          <p:nvPr/>
        </p:nvSpPr>
        <p:spPr>
          <a:xfrm>
            <a:off x="4437286" y="2215999"/>
            <a:ext cx="2208056" cy="3806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14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Product ID:</a:t>
            </a:r>
            <a:r>
              <a:rPr lang="en-IN" sz="14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6744434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9BBD7C9-D110-46AE-4C03-B7934187964B}"/>
              </a:ext>
            </a:extLst>
          </p:cNvPr>
          <p:cNvSpPr txBox="1"/>
          <p:nvPr/>
        </p:nvSpPr>
        <p:spPr>
          <a:xfrm>
            <a:off x="4504335" y="3703948"/>
            <a:ext cx="2208056" cy="375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14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Discount Price</a:t>
            </a: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352CAD55-4077-1110-9E1B-16C7EC1B75C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53147" y="3038118"/>
            <a:ext cx="1844200" cy="243861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19CE8016-5E01-B48E-5F6F-618B365543D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71620" y="3555856"/>
            <a:ext cx="2607253" cy="224280"/>
          </a:xfrm>
          <a:prstGeom prst="rect">
            <a:avLst/>
          </a:prstGeom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68F21406-F508-7395-282A-DEBB945A95F6}"/>
              </a:ext>
            </a:extLst>
          </p:cNvPr>
          <p:cNvSpPr txBox="1"/>
          <p:nvPr/>
        </p:nvSpPr>
        <p:spPr>
          <a:xfrm>
            <a:off x="8270550" y="4211114"/>
            <a:ext cx="2208056" cy="375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14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Any field - Dynamic</a:t>
            </a:r>
          </a:p>
        </p:txBody>
      </p:sp>
    </p:spTree>
    <p:extLst>
      <p:ext uri="{BB962C8B-B14F-4D97-AF65-F5344CB8AC3E}">
        <p14:creationId xmlns:p14="http://schemas.microsoft.com/office/powerpoint/2010/main" val="18477055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1E62A803-A50C-AC8B-1F74-CDF4EA4737D9}"/>
              </a:ext>
            </a:extLst>
          </p:cNvPr>
          <p:cNvSpPr/>
          <p:nvPr/>
        </p:nvSpPr>
        <p:spPr>
          <a:xfrm>
            <a:off x="6024824" y="0"/>
            <a:ext cx="6167175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EE74BEF-2E57-D69E-FE69-E3D96DE5700E}"/>
              </a:ext>
            </a:extLst>
          </p:cNvPr>
          <p:cNvSpPr/>
          <p:nvPr/>
        </p:nvSpPr>
        <p:spPr>
          <a:xfrm rot="16200000" flipH="1">
            <a:off x="-148744" y="66957"/>
            <a:ext cx="512064" cy="1287941"/>
          </a:xfrm>
          <a:prstGeom prst="rect">
            <a:avLst/>
          </a:prstGeom>
          <a:gradFill flip="none" rotWithShape="1">
            <a:gsLst>
              <a:gs pos="42000">
                <a:schemeClr val="accent1">
                  <a:lumMod val="75000"/>
                  <a:alpha val="35000"/>
                </a:schemeClr>
              </a:gs>
              <a:gs pos="0">
                <a:schemeClr val="accent1"/>
              </a:gs>
              <a:gs pos="89000">
                <a:schemeClr val="accent1">
                  <a:lumMod val="75000"/>
                  <a:alpha val="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anrope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823F8C7-E409-3B11-F27C-6716C1BF8B7B}"/>
              </a:ext>
            </a:extLst>
          </p:cNvPr>
          <p:cNvSpPr/>
          <p:nvPr/>
        </p:nvSpPr>
        <p:spPr>
          <a:xfrm rot="16200000">
            <a:off x="11128647" y="-547733"/>
            <a:ext cx="515620" cy="1611086"/>
          </a:xfrm>
          <a:prstGeom prst="rect">
            <a:avLst/>
          </a:prstGeom>
          <a:gradFill flip="none" rotWithShape="1">
            <a:gsLst>
              <a:gs pos="42000">
                <a:schemeClr val="accent1">
                  <a:lumMod val="75000"/>
                  <a:alpha val="35000"/>
                </a:schemeClr>
              </a:gs>
              <a:gs pos="0">
                <a:schemeClr val="accent1"/>
              </a:gs>
              <a:gs pos="89000">
                <a:schemeClr val="accent1">
                  <a:lumMod val="75000"/>
                  <a:alpha val="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anrope"/>
              <a:ea typeface="+mn-ea"/>
              <a:cs typeface="+mn-cs"/>
            </a:endParaRP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59E60D97-B0F5-6DAB-613E-68EBC0FFEFC8}"/>
              </a:ext>
            </a:extLst>
          </p:cNvPr>
          <p:cNvGrpSpPr/>
          <p:nvPr/>
        </p:nvGrpSpPr>
        <p:grpSpPr>
          <a:xfrm>
            <a:off x="501545" y="257810"/>
            <a:ext cx="5594455" cy="5193524"/>
            <a:chOff x="680109" y="119954"/>
            <a:chExt cx="5594455" cy="15815300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68898301-FA5D-A177-E775-253751552775}"/>
                </a:ext>
              </a:extLst>
            </p:cNvPr>
            <p:cNvSpPr txBox="1"/>
            <p:nvPr/>
          </p:nvSpPr>
          <p:spPr>
            <a:xfrm>
              <a:off x="822534" y="119954"/>
              <a:ext cx="5452030" cy="120032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GB" sz="3600" b="1" dirty="0">
                  <a:solidFill>
                    <a:srgbClr val="000000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Key Insight &amp; Recommendation</a:t>
              </a:r>
              <a:endParaRPr kumimoji="0" lang="id-ID" sz="3600" b="1" i="0" u="none" strike="noStrike" kern="1200" cap="none" spc="0" normalizeH="0" baseline="0" noProof="0" dirty="0">
                <a:ln>
                  <a:noFill/>
                </a:ln>
                <a:solidFill>
                  <a:srgbClr val="014D6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FF5CAAB2-A364-8096-1F94-9BA4A66A7527}"/>
                </a:ext>
              </a:extLst>
            </p:cNvPr>
            <p:cNvSpPr txBox="1"/>
            <p:nvPr/>
          </p:nvSpPr>
          <p:spPr>
            <a:xfrm>
              <a:off x="680109" y="5671499"/>
              <a:ext cx="5365926" cy="1026375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285750" indent="-285750">
                <a:lnSpc>
                  <a:spcPct val="150000"/>
                </a:lnSpc>
                <a:buFont typeface="Wingdings" panose="05000000000000000000" pitchFamily="2" charset="2"/>
                <a:buChar char="q"/>
              </a:pPr>
              <a:r>
                <a:rPr lang="en-US" sz="1600" dirty="0">
                  <a:latin typeface="Segoe UI" panose="020B0502040204020203" pitchFamily="34" charset="0"/>
                  <a:cs typeface="Segoe UI" panose="020B0502040204020203" pitchFamily="34" charset="0"/>
                </a:rPr>
                <a:t>Premium products generally show higher customer ratings.</a:t>
              </a:r>
            </a:p>
            <a:p>
              <a:pPr marL="285750" indent="-285750">
                <a:lnSpc>
                  <a:spcPct val="150000"/>
                </a:lnSpc>
                <a:buFont typeface="Wingdings" panose="05000000000000000000" pitchFamily="2" charset="2"/>
                <a:buChar char="q"/>
              </a:pPr>
              <a:r>
                <a:rPr lang="en-US" sz="1600" dirty="0">
                  <a:latin typeface="Segoe UI" panose="020B0502040204020203" pitchFamily="34" charset="0"/>
                  <a:cs typeface="Segoe UI" panose="020B0502040204020203" pitchFamily="34" charset="0"/>
                </a:rPr>
                <a:t>50% discounted products attract higher purchase interest.</a:t>
              </a:r>
            </a:p>
            <a:p>
              <a:pPr marL="285750" indent="-285750">
                <a:lnSpc>
                  <a:spcPct val="150000"/>
                </a:lnSpc>
                <a:buFont typeface="Wingdings" panose="05000000000000000000" pitchFamily="2" charset="2"/>
                <a:buChar char="q"/>
              </a:pPr>
              <a:r>
                <a:rPr lang="en-US" sz="1600" dirty="0">
                  <a:latin typeface="Segoe UI" panose="020B0502040204020203" pitchFamily="34" charset="0"/>
                  <a:cs typeface="Segoe UI" panose="020B0502040204020203" pitchFamily="34" charset="0"/>
                </a:rPr>
                <a:t>Size 'M' has the highest availability across categories.</a:t>
              </a:r>
            </a:p>
            <a:p>
              <a:pPr marL="285750" indent="-285750">
                <a:lnSpc>
                  <a:spcPct val="150000"/>
                </a:lnSpc>
                <a:buFont typeface="Wingdings" panose="05000000000000000000" pitchFamily="2" charset="2"/>
                <a:buChar char="q"/>
              </a:pPr>
              <a:r>
                <a:rPr lang="en-US" sz="1600" dirty="0">
                  <a:latin typeface="Segoe UI" panose="020B0502040204020203" pitchFamily="34" charset="0"/>
                  <a:cs typeface="Segoe UI" panose="020B0502040204020203" pitchFamily="34" charset="0"/>
                </a:rPr>
                <a:t>Missing values were resolved, improving data reliability.</a:t>
              </a:r>
            </a:p>
            <a:p>
              <a:pPr marL="285750" indent="-285750">
                <a:lnSpc>
                  <a:spcPct val="150000"/>
                </a:lnSpc>
                <a:buFont typeface="Wingdings" panose="05000000000000000000" pitchFamily="2" charset="2"/>
                <a:buChar char="q"/>
              </a:pPr>
              <a:r>
                <a:rPr lang="en-US" sz="1600" dirty="0">
                  <a:latin typeface="Segoe UI" panose="020B0502040204020203" pitchFamily="34" charset="0"/>
                  <a:cs typeface="Segoe UI" panose="020B0502040204020203" pitchFamily="34" charset="0"/>
                </a:rPr>
                <a:t>Standardizing discount formats improved reporting accuracy.</a:t>
              </a:r>
              <a:endParaRPr lang="en-GB" sz="1600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E68E1DE5-94F5-1FC9-C4AB-9AC29A2598CF}"/>
              </a:ext>
            </a:extLst>
          </p:cNvPr>
          <p:cNvSpPr txBox="1"/>
          <p:nvPr/>
        </p:nvSpPr>
        <p:spPr>
          <a:xfrm>
            <a:off x="501545" y="1638666"/>
            <a:ext cx="265297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b="1" i="1" dirty="0">
                <a:latin typeface="Segoe UI" panose="020B0502040204020203" pitchFamily="34" charset="0"/>
                <a:cs typeface="Segoe UI" panose="020B0502040204020203" pitchFamily="34" charset="0"/>
              </a:rPr>
              <a:t>INSIGHTS: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BAD73DE-32A9-802C-5884-3E639F676977}"/>
              </a:ext>
            </a:extLst>
          </p:cNvPr>
          <p:cNvSpPr txBox="1"/>
          <p:nvPr/>
        </p:nvSpPr>
        <p:spPr>
          <a:xfrm>
            <a:off x="6370610" y="1638666"/>
            <a:ext cx="265297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i="1" dirty="0">
                <a:solidFill>
                  <a:schemeClr val="accent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</a:t>
            </a:r>
            <a:r>
              <a:rPr lang="en-IN" sz="1600" b="1" i="1" dirty="0">
                <a:solidFill>
                  <a:schemeClr val="accent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ECOMMENDATION: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B64C297-60D6-4365-34FA-953BD94ED7DD}"/>
              </a:ext>
            </a:extLst>
          </p:cNvPr>
          <p:cNvSpPr txBox="1"/>
          <p:nvPr/>
        </p:nvSpPr>
        <p:spPr>
          <a:xfrm>
            <a:off x="6515099" y="2201929"/>
            <a:ext cx="4961040" cy="3364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Increase stock for high-demand sizes like M.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Maintain discounts in the 40–60% sweet spot.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Improve data quality checks at product upload.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Monitor product ratings on a regular cadence.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Build a live dashboard for real-time tracking.</a:t>
            </a:r>
            <a:endParaRPr lang="en-GB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AD1A507-0DB7-AE94-C3FF-2E62D93D93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06198" y="277292"/>
            <a:ext cx="2301439" cy="746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13285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A5F9D444-AFE7-7F51-EDF4-D2989F811105}"/>
              </a:ext>
            </a:extLst>
          </p:cNvPr>
          <p:cNvSpPr/>
          <p:nvPr/>
        </p:nvSpPr>
        <p:spPr>
          <a:xfrm rot="5400000" flipH="1">
            <a:off x="981075" y="-485775"/>
            <a:ext cx="515620" cy="2477770"/>
          </a:xfrm>
          <a:prstGeom prst="rect">
            <a:avLst/>
          </a:prstGeom>
          <a:gradFill flip="none" rotWithShape="1">
            <a:gsLst>
              <a:gs pos="42000">
                <a:schemeClr val="accent1">
                  <a:lumMod val="75000"/>
                  <a:alpha val="35000"/>
                </a:schemeClr>
              </a:gs>
              <a:gs pos="0">
                <a:schemeClr val="accent1"/>
              </a:gs>
              <a:gs pos="89000">
                <a:schemeClr val="accent1">
                  <a:lumMod val="75000"/>
                  <a:alpha val="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anrope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9929F8D-32B6-0142-6AA2-A60C4BA9D01F}"/>
              </a:ext>
            </a:extLst>
          </p:cNvPr>
          <p:cNvSpPr/>
          <p:nvPr/>
        </p:nvSpPr>
        <p:spPr>
          <a:xfrm rot="16200000">
            <a:off x="10877374" y="5543374"/>
            <a:ext cx="515620" cy="2113631"/>
          </a:xfrm>
          <a:prstGeom prst="rect">
            <a:avLst/>
          </a:prstGeom>
          <a:gradFill flip="none" rotWithShape="1">
            <a:gsLst>
              <a:gs pos="42000">
                <a:schemeClr val="accent1">
                  <a:lumMod val="75000"/>
                  <a:alpha val="35000"/>
                </a:schemeClr>
              </a:gs>
              <a:gs pos="0">
                <a:schemeClr val="accent1"/>
              </a:gs>
              <a:gs pos="89000">
                <a:schemeClr val="accent1">
                  <a:lumMod val="75000"/>
                  <a:alpha val="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anrope"/>
              <a:ea typeface="+mn-ea"/>
              <a:cs typeface="+mn-cs"/>
            </a:endParaRPr>
          </a:p>
        </p:txBody>
      </p:sp>
      <p:pic>
        <p:nvPicPr>
          <p:cNvPr id="8" name="Picture Placeholder 7">
            <a:extLst>
              <a:ext uri="{FF2B5EF4-FFF2-40B4-BE49-F238E27FC236}">
                <a16:creationId xmlns:a16="http://schemas.microsoft.com/office/drawing/2014/main" id="{666745C5-07AD-705E-5D6A-5BBF64A50358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536" r="10536"/>
          <a:stretch>
            <a:fillRect/>
          </a:stretch>
        </p:blipFill>
        <p:spPr>
          <a:custGeom>
            <a:avLst/>
            <a:gdLst>
              <a:gd name="csX0" fmla="*/ 0 w 2849879"/>
              <a:gd name="csY0" fmla="*/ 0 h 5257799"/>
              <a:gd name="csX1" fmla="*/ 2849879 w 2849879"/>
              <a:gd name="csY1" fmla="*/ 0 h 5257799"/>
              <a:gd name="csX2" fmla="*/ 2849879 w 2849879"/>
              <a:gd name="csY2" fmla="*/ 5257799 h 5257799"/>
              <a:gd name="csX3" fmla="*/ 0 w 2849879"/>
              <a:gd name="csY3" fmla="*/ 5257799 h 525779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2849879" h="5257799">
                <a:moveTo>
                  <a:pt x="0" y="0"/>
                </a:moveTo>
                <a:lnTo>
                  <a:pt x="2849879" y="0"/>
                </a:lnTo>
                <a:lnTo>
                  <a:pt x="2849879" y="5257799"/>
                </a:lnTo>
                <a:lnTo>
                  <a:pt x="0" y="5257799"/>
                </a:lnTo>
                <a:close/>
              </a:path>
            </a:pathLst>
          </a:custGeom>
          <a:solidFill>
            <a:srgbClr val="E7E6E6">
              <a:lumMod val="50000"/>
              <a:alpha val="50000"/>
            </a:srgbClr>
          </a:solidFill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9370208-B718-C4AF-14DE-77A7505A1C64}"/>
              </a:ext>
            </a:extLst>
          </p:cNvPr>
          <p:cNvSpPr txBox="1"/>
          <p:nvPr/>
        </p:nvSpPr>
        <p:spPr>
          <a:xfrm>
            <a:off x="4411479" y="832313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3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I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Conclusion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5F5C958-A094-1144-7947-32517904B9EB}"/>
              </a:ext>
            </a:extLst>
          </p:cNvPr>
          <p:cNvSpPr txBox="1"/>
          <p:nvPr/>
        </p:nvSpPr>
        <p:spPr>
          <a:xfrm>
            <a:off x="4563880" y="2857535"/>
            <a:ext cx="6766875" cy="37548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dirty="0">
                <a:latin typeface="Segoe UI" panose="020B0502040204020203" pitchFamily="34" charset="0"/>
                <a:cs typeface="Segoe UI" panose="020B0502040204020203" pitchFamily="34" charset="0"/>
              </a:rPr>
              <a:t>"This project demonstrated the complete data analytics workflow using Microsoft Excel — from data cleaning and analysis to lookup functions and business insights that support real decisions.“</a:t>
            </a:r>
          </a:p>
          <a:p>
            <a:endParaRPr lang="en-IN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IN" dirty="0">
                <a:latin typeface="Segoe UI" panose="020B0502040204020203" pitchFamily="34" charset="0"/>
                <a:cs typeface="Segoe UI" panose="020B0502040204020203" pitchFamily="34" charset="0"/>
              </a:rPr>
              <a:t>Data Cleaning · Data Analysis · Lookup Functions · Business Insights · Decision Support</a:t>
            </a:r>
          </a:p>
          <a:p>
            <a:endParaRPr lang="en-IN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en-IN" b="1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en-IN" b="1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en-IN" b="1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en-IN" b="1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IN" sz="2800" b="1" dirty="0">
                <a:latin typeface="Segoe UI" panose="020B0502040204020203" pitchFamily="34" charset="0"/>
                <a:cs typeface="Segoe UI" panose="020B0502040204020203" pitchFamily="34" charset="0"/>
              </a:rPr>
              <a:t>Thank You</a:t>
            </a:r>
            <a:br>
              <a:rPr lang="en-IN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endParaRPr lang="en-IN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54F4D14-3BD7-0436-4F8D-FB637E08B42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55864" y="314619"/>
            <a:ext cx="2301439" cy="74682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FE0C7CA-7DF1-2622-882F-696AA8DF7F7E}"/>
              </a:ext>
            </a:extLst>
          </p:cNvPr>
          <p:cNvSpPr txBox="1"/>
          <p:nvPr/>
        </p:nvSpPr>
        <p:spPr>
          <a:xfrm>
            <a:off x="4563880" y="1507475"/>
            <a:ext cx="6096000" cy="15081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IN" sz="3600" b="1" dirty="0">
                <a:latin typeface="Segoe UI" panose="020B0502040204020203" pitchFamily="34" charset="0"/>
                <a:cs typeface="Segoe UI" panose="020B0502040204020203" pitchFamily="34" charset="0"/>
              </a:rPr>
              <a:t>From Raw Data to Business Decisions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2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89946890"/>
      </p:ext>
    </p:extLst>
  </p:cSld>
  <p:clrMapOvr>
    <a:masterClrMapping/>
  </p:clrMapOvr>
</p:sld>
</file>

<file path=ppt/theme/theme1.xml><?xml version="1.0" encoding="utf-8"?>
<a:theme xmlns:a="http://schemas.openxmlformats.org/drawingml/2006/main" name="2_Office Theme">
  <a:themeElements>
    <a:clrScheme name="Custom 11">
      <a:dk1>
        <a:srgbClr val="000000"/>
      </a:dk1>
      <a:lt1>
        <a:srgbClr val="FFFFFF"/>
      </a:lt1>
      <a:dk2>
        <a:srgbClr val="2D3847"/>
      </a:dk2>
      <a:lt2>
        <a:srgbClr val="E7E6E6"/>
      </a:lt2>
      <a:accent1>
        <a:srgbClr val="75E2E0"/>
      </a:accent1>
      <a:accent2>
        <a:srgbClr val="2CACAD"/>
      </a:accent2>
      <a:accent3>
        <a:srgbClr val="014D60"/>
      </a:accent3>
      <a:accent4>
        <a:srgbClr val="023F52"/>
      </a:accent4>
      <a:accent5>
        <a:srgbClr val="B6B6B6"/>
      </a:accent5>
      <a:accent6>
        <a:srgbClr val="9C9C9C"/>
      </a:accent6>
      <a:hlink>
        <a:srgbClr val="0563C1"/>
      </a:hlink>
      <a:folHlink>
        <a:srgbClr val="954F72"/>
      </a:folHlink>
    </a:clrScheme>
    <a:fontScheme name="Custom 1041">
      <a:majorFont>
        <a:latin typeface="questrial"/>
        <a:ea typeface=""/>
        <a:cs typeface=""/>
      </a:majorFont>
      <a:minorFont>
        <a:latin typeface="Manrop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576</TotalTime>
  <Words>914</Words>
  <Application>Microsoft Office PowerPoint</Application>
  <PresentationFormat>Widescreen</PresentationFormat>
  <Paragraphs>153</Paragraphs>
  <Slides>10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8" baseType="lpstr">
      <vt:lpstr>Aptos</vt:lpstr>
      <vt:lpstr>Arial</vt:lpstr>
      <vt:lpstr>DM Sans</vt:lpstr>
      <vt:lpstr>Manrope</vt:lpstr>
      <vt:lpstr>questrial</vt:lpstr>
      <vt:lpstr>Segoe UI</vt:lpstr>
      <vt:lpstr>Wingdings</vt:lpstr>
      <vt:lpstr>2_Office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SlideEgg</dc:creator>
  <cp:lastModifiedBy>Rakshitha J</cp:lastModifiedBy>
  <cp:revision>100</cp:revision>
  <dcterms:created xsi:type="dcterms:W3CDTF">2026-02-05T07:04:50Z</dcterms:created>
  <dcterms:modified xsi:type="dcterms:W3CDTF">2026-07-31T10:59:29Z</dcterms:modified>
</cp:coreProperties>
</file>